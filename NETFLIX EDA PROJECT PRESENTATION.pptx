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56" r:id="rId3"/>
    <p:sldId id="259" r:id="rId4"/>
    <p:sldId id="260" r:id="rId5"/>
    <p:sldId id="261" r:id="rId6"/>
    <p:sldId id="262" r:id="rId7"/>
    <p:sldId id="263" r:id="rId8"/>
    <p:sldId id="264" r:id="rId9"/>
    <p:sldId id="266" r:id="rId10"/>
    <p:sldId id="265" r:id="rId11"/>
    <p:sldId id="267" r:id="rId12"/>
    <p:sldId id="268" r:id="rId13"/>
    <p:sldId id="258" r:id="rId14"/>
    <p:sldId id="270" r:id="rId15"/>
    <p:sldId id="269" r:id="rId16"/>
    <p:sldId id="271" r:id="rId17"/>
    <p:sldId id="273"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75" d="100"/>
          <a:sy n="75" d="100"/>
        </p:scale>
        <p:origin x="931"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19F1A-254F-445D-8AE8-8790D93DCB80}"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86827-4513-444D-8481-E2AD8229562F}" type="slidenum">
              <a:rPr lang="en-US" smtClean="0"/>
              <a:t>‹#›</a:t>
            </a:fld>
            <a:endParaRPr lang="en-US"/>
          </a:p>
        </p:txBody>
      </p:sp>
    </p:spTree>
    <p:extLst>
      <p:ext uri="{BB962C8B-B14F-4D97-AF65-F5344CB8AC3E}">
        <p14:creationId xmlns:p14="http://schemas.microsoft.com/office/powerpoint/2010/main" val="2195484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986827-4513-444D-8481-E2AD8229562F}" type="slidenum">
              <a:rPr lang="en-US" smtClean="0"/>
              <a:t>5</a:t>
            </a:fld>
            <a:endParaRPr lang="en-US"/>
          </a:p>
        </p:txBody>
      </p:sp>
    </p:spTree>
    <p:extLst>
      <p:ext uri="{BB962C8B-B14F-4D97-AF65-F5344CB8AC3E}">
        <p14:creationId xmlns:p14="http://schemas.microsoft.com/office/powerpoint/2010/main" val="3625833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986827-4513-444D-8481-E2AD8229562F}" type="slidenum">
              <a:rPr lang="en-US" smtClean="0"/>
              <a:t>6</a:t>
            </a:fld>
            <a:endParaRPr lang="en-US"/>
          </a:p>
        </p:txBody>
      </p:sp>
    </p:spTree>
    <p:extLst>
      <p:ext uri="{BB962C8B-B14F-4D97-AF65-F5344CB8AC3E}">
        <p14:creationId xmlns:p14="http://schemas.microsoft.com/office/powerpoint/2010/main" val="3814561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110423-27F2-4C91-A801-B16450E16679}"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973036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10423-27F2-4C91-A801-B16450E16679}"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577747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10423-27F2-4C91-A801-B16450E16679}"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1659252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110423-27F2-4C91-A801-B16450E16679}"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417868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110423-27F2-4C91-A801-B16450E16679}"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137120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110423-27F2-4C91-A801-B16450E16679}"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3632872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110423-27F2-4C91-A801-B16450E16679}"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4024430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110423-27F2-4C91-A801-B16450E16679}"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691006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110423-27F2-4C91-A801-B16450E16679}"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1052308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10423-27F2-4C91-A801-B16450E16679}"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365939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10423-27F2-4C91-A801-B16450E16679}"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28042-0126-4AFB-9F3B-2FFCAA2A105A}" type="slidenum">
              <a:rPr lang="en-US" smtClean="0"/>
              <a:t>‹#›</a:t>
            </a:fld>
            <a:endParaRPr lang="en-US"/>
          </a:p>
        </p:txBody>
      </p:sp>
    </p:spTree>
    <p:extLst>
      <p:ext uri="{BB962C8B-B14F-4D97-AF65-F5344CB8AC3E}">
        <p14:creationId xmlns:p14="http://schemas.microsoft.com/office/powerpoint/2010/main" val="251054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110423-27F2-4C91-A801-B16450E16679}" type="datetimeFigureOut">
              <a:rPr lang="en-US" smtClean="0"/>
              <a:t>12/1/2025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28042-0126-4AFB-9F3B-2FFCAA2A105A}" type="slidenum">
              <a:rPr lang="en-US" smtClean="0"/>
              <a:t>‹#›</a:t>
            </a:fld>
            <a:endParaRPr lang="en-US"/>
          </a:p>
        </p:txBody>
      </p:sp>
    </p:spTree>
    <p:extLst>
      <p:ext uri="{BB962C8B-B14F-4D97-AF65-F5344CB8AC3E}">
        <p14:creationId xmlns:p14="http://schemas.microsoft.com/office/powerpoint/2010/main" val="18454276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BE5FCD-337B-4086-E557-58775859F1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703725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09DA66-D83A-399F-6093-9F9847861F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9F92598D-3E98-24A7-31AF-58FD8E1ECEF5}"/>
              </a:ext>
            </a:extLst>
          </p:cNvPr>
          <p:cNvSpPr txBox="1"/>
          <p:nvPr/>
        </p:nvSpPr>
        <p:spPr>
          <a:xfrm>
            <a:off x="6383868" y="165465"/>
            <a:ext cx="5808132" cy="452431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This project utilizes the Netflix Titles Dataset which provides a comprehensive catalog of all movies and TV shows available on the Netflix platform. The dataset includes key features such as title, type of content, director, cast, country of production, </a:t>
            </a:r>
            <a:r>
              <a:rPr lang="en-US" sz="2400" b="1" dirty="0" err="1">
                <a:solidFill>
                  <a:schemeClr val="bg1"/>
                </a:solidFill>
                <a:latin typeface="Times New Roman" panose="02020603050405020304" pitchFamily="18" charset="0"/>
                <a:cs typeface="Times New Roman" panose="02020603050405020304" pitchFamily="18" charset="0"/>
              </a:rPr>
              <a:t>date_added</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release_year</a:t>
            </a:r>
            <a:r>
              <a:rPr lang="en-US" sz="2400" b="1" dirty="0">
                <a:solidFill>
                  <a:schemeClr val="bg1"/>
                </a:solidFill>
                <a:latin typeface="Times New Roman" panose="02020603050405020304" pitchFamily="18" charset="0"/>
                <a:cs typeface="Times New Roman" panose="02020603050405020304" pitchFamily="18" charset="0"/>
              </a:rPr>
              <a:t>, rating, duration, and genre (</a:t>
            </a:r>
            <a:r>
              <a:rPr lang="en-US" sz="2400" b="1" dirty="0" err="1">
                <a:solidFill>
                  <a:schemeClr val="bg1"/>
                </a:solidFill>
                <a:latin typeface="Times New Roman" panose="02020603050405020304" pitchFamily="18" charset="0"/>
                <a:cs typeface="Times New Roman" panose="02020603050405020304" pitchFamily="18" charset="0"/>
              </a:rPr>
              <a:t>listed_in</a:t>
            </a:r>
            <a:r>
              <a:rPr lang="en-US" sz="2400" b="1" dirty="0">
                <a:solidFill>
                  <a:schemeClr val="bg1"/>
                </a:solidFill>
                <a:latin typeface="Times New Roman" panose="02020603050405020304" pitchFamily="18" charset="0"/>
                <a:cs typeface="Times New Roman" panose="02020603050405020304" pitchFamily="18" charset="0"/>
              </a:rPr>
              <a:t>). The primary goal is to perform Exploratory Data Analysis (EDA) to uncover trends, distribution patterns, and insights into Netflix's content library.</a:t>
            </a:r>
          </a:p>
        </p:txBody>
      </p:sp>
      <p:sp>
        <p:nvSpPr>
          <p:cNvPr id="9" name="TextBox 8">
            <a:extLst>
              <a:ext uri="{FF2B5EF4-FFF2-40B4-BE49-F238E27FC236}">
                <a16:creationId xmlns:a16="http://schemas.microsoft.com/office/drawing/2014/main" id="{BAC2043C-7B25-E938-F8C1-2260082AF653}"/>
              </a:ext>
            </a:extLst>
          </p:cNvPr>
          <p:cNvSpPr txBox="1"/>
          <p:nvPr/>
        </p:nvSpPr>
        <p:spPr>
          <a:xfrm>
            <a:off x="-174171" y="668214"/>
            <a:ext cx="6731725" cy="2646878"/>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Exploratory Data Analysis</a:t>
            </a:r>
            <a:r>
              <a:rPr lang="en-US" sz="54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Project</a:t>
            </a:r>
          </a:p>
          <a:p>
            <a:pPr algn="ctr"/>
            <a:r>
              <a:rPr lang="en-US" sz="4000" b="1" dirty="0">
                <a:latin typeface="Times New Roman" panose="02020603050405020304" pitchFamily="18" charset="0"/>
                <a:cs typeface="Times New Roman" panose="02020603050405020304" pitchFamily="18" charset="0"/>
              </a:rPr>
              <a:t>On</a:t>
            </a:r>
          </a:p>
          <a:p>
            <a:r>
              <a:rPr lang="en-US" sz="3200" b="1" dirty="0"/>
              <a:t>				</a:t>
            </a:r>
          </a:p>
        </p:txBody>
      </p:sp>
      <p:sp>
        <p:nvSpPr>
          <p:cNvPr id="10" name="TextBox 9">
            <a:extLst>
              <a:ext uri="{FF2B5EF4-FFF2-40B4-BE49-F238E27FC236}">
                <a16:creationId xmlns:a16="http://schemas.microsoft.com/office/drawing/2014/main" id="{4D409F7D-79B8-9B61-B862-476DE17C263A}"/>
              </a:ext>
            </a:extLst>
          </p:cNvPr>
          <p:cNvSpPr txBox="1"/>
          <p:nvPr/>
        </p:nvSpPr>
        <p:spPr>
          <a:xfrm>
            <a:off x="6379751" y="4913246"/>
            <a:ext cx="5172169" cy="1938992"/>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Library`s used during this project :-</a:t>
            </a:r>
          </a:p>
          <a:p>
            <a:pPr marL="800100" lvl="1" indent="-34290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 Pandas.</a:t>
            </a:r>
          </a:p>
          <a:p>
            <a:pPr marL="800100" lvl="1" indent="-34290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 Matplotlib</a:t>
            </a:r>
          </a:p>
          <a:p>
            <a:pPr marL="800100" lvl="1" indent="-34290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 Seaborn</a:t>
            </a:r>
          </a:p>
          <a:p>
            <a:pPr marL="800100" lvl="1" indent="-34290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Plotly</a:t>
            </a:r>
            <a:endParaRPr lang="en-US" sz="2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947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929570-B4FD-F224-DB2C-210DFD0C6EA3}"/>
              </a:ext>
            </a:extLst>
          </p:cNvPr>
          <p:cNvSpPr txBox="1"/>
          <p:nvPr/>
        </p:nvSpPr>
        <p:spPr>
          <a:xfrm>
            <a:off x="-144908" y="1637356"/>
            <a:ext cx="7552267" cy="1661993"/>
          </a:xfrm>
          <a:prstGeom prst="rect">
            <a:avLst/>
          </a:prstGeom>
          <a:noFill/>
        </p:spPr>
        <p:txBody>
          <a:bodyPr wrap="square" rtlCol="0">
            <a:spAutoFit/>
          </a:bodyPr>
          <a:lstStyle/>
          <a:p>
            <a:pPr marL="91440"/>
            <a:r>
              <a:rPr lang="en-US" sz="2400" b="1" dirty="0">
                <a:latin typeface="Times New Roman" panose="02020603050405020304" pitchFamily="18" charset="0"/>
                <a:ea typeface="Tahoma" panose="020B0604030504040204" pitchFamily="34" charset="0"/>
                <a:cs typeface="Times New Roman" panose="02020603050405020304" pitchFamily="18" charset="0"/>
              </a:rPr>
              <a:t>Code for Data-Set Load </a:t>
            </a:r>
            <a:r>
              <a:rPr lang="en-US" sz="2400" b="1" dirty="0">
                <a:latin typeface="Tahoma" panose="020B0604030504040204" pitchFamily="34" charset="0"/>
                <a:ea typeface="Tahoma" panose="020B0604030504040204" pitchFamily="34" charset="0"/>
                <a:cs typeface="Tahoma" panose="020B0604030504040204" pitchFamily="34" charset="0"/>
              </a:rPr>
              <a:t>:-</a:t>
            </a:r>
          </a:p>
          <a:p>
            <a:pPr marL="91440" fontAlgn="ctr"/>
            <a:r>
              <a:rPr lang="en-US" sz="2000" b="1" dirty="0">
                <a:latin typeface="Tahoma" panose="020B0604030504040204" pitchFamily="34" charset="0"/>
                <a:ea typeface="Tahoma" panose="020B0604030504040204" pitchFamily="34" charset="0"/>
                <a:cs typeface="Tahoma" panose="020B0604030504040204" pitchFamily="34" charset="0"/>
              </a:rPr>
              <a:t>				</a:t>
            </a:r>
            <a:r>
              <a:rPr lang="en-US" dirty="0">
                <a:latin typeface="Times New Roman" panose="02020603050405020304" pitchFamily="18" charset="0"/>
                <a:cs typeface="Times New Roman" panose="02020603050405020304" pitchFamily="18" charset="0"/>
              </a:rPr>
              <a:t>import pandas as pd</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marL="91440" fontAlgn="ctr"/>
            <a:r>
              <a:rPr lang="en-US" sz="2000" b="1" dirty="0">
                <a:latin typeface="Times New Roman" panose="02020603050405020304" pitchFamily="18" charset="0"/>
                <a:ea typeface="Tahoma" panose="020B0604030504040204" pitchFamily="34"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netflix</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pd.read_csv</a:t>
            </a:r>
            <a:r>
              <a:rPr lang="en-US" dirty="0">
                <a:latin typeface="Times New Roman" panose="02020603050405020304" pitchFamily="18" charset="0"/>
                <a:cs typeface="Times New Roman" panose="02020603050405020304" pitchFamily="18" charset="0"/>
              </a:rPr>
              <a:t>("netflix_titles.csv")</a:t>
            </a:r>
          </a:p>
          <a:p>
            <a:pPr marL="91440" fontAlgn="ct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netflix</a:t>
            </a:r>
            <a:endParaRPr lang="en-US" dirty="0">
              <a:latin typeface="Times New Roman" panose="02020603050405020304" pitchFamily="18" charset="0"/>
              <a:cs typeface="Times New Roman" panose="02020603050405020304" pitchFamily="18" charset="0"/>
            </a:endParaRPr>
          </a:p>
          <a:p>
            <a:pPr marL="91440"/>
            <a:endParaRPr lang="en-US" sz="2000" b="1" dirty="0">
              <a:latin typeface="Tahoma" panose="020B060403050404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64A423BC-576B-4AF6-BE80-07A59099A749}"/>
              </a:ext>
            </a:extLst>
          </p:cNvPr>
          <p:cNvSpPr txBox="1"/>
          <p:nvPr/>
        </p:nvSpPr>
        <p:spPr>
          <a:xfrm>
            <a:off x="-33871" y="738831"/>
            <a:ext cx="3699933" cy="769441"/>
          </a:xfrm>
          <a:prstGeom prst="rect">
            <a:avLst/>
          </a:prstGeom>
          <a:noFill/>
        </p:spPr>
        <p:txBody>
          <a:bodyPr wrap="square" rtlCol="0">
            <a:spAutoFit/>
          </a:bodyPr>
          <a:lstStyle/>
          <a:p>
            <a:r>
              <a:rPr lang="en-US" sz="2400" b="1" dirty="0">
                <a:latin typeface="Times New Roman" panose="02020603050405020304" pitchFamily="18" charset="0"/>
                <a:ea typeface="Tahoma" panose="020B0604030504040204" pitchFamily="34" charset="0"/>
                <a:cs typeface="Times New Roman" panose="02020603050405020304" pitchFamily="18" charset="0"/>
              </a:rPr>
              <a:t>Data-Set Name :-</a:t>
            </a:r>
            <a:r>
              <a:rPr lang="en-US" sz="2000" b="1"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a:latin typeface="Times New Roman" panose="02020603050405020304" pitchFamily="18" charset="0"/>
                <a:ea typeface="Tahoma" panose="020B0604030504040204" pitchFamily="34" charset="0"/>
                <a:cs typeface="Times New Roman" panose="02020603050405020304" pitchFamily="18" charset="0"/>
              </a:rPr>
              <a:t>n</a:t>
            </a:r>
            <a:r>
              <a:rPr lang="en-US" dirty="0">
                <a:latin typeface="Times New Roman" panose="02020603050405020304" pitchFamily="18" charset="0"/>
                <a:ea typeface="Tahoma" panose="020B0604030504040204" pitchFamily="34" charset="0"/>
                <a:cs typeface="Times New Roman" panose="02020603050405020304" pitchFamily="18" charset="0"/>
              </a:rPr>
              <a:t>etflix_titles.csv</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B64284B8-06C9-4F47-BE20-65FC91603118}"/>
              </a:ext>
            </a:extLst>
          </p:cNvPr>
          <p:cNvCxnSpPr>
            <a:cxnSpLocks/>
          </p:cNvCxnSpPr>
          <p:nvPr/>
        </p:nvCxnSpPr>
        <p:spPr>
          <a:xfrm>
            <a:off x="5991497" y="705389"/>
            <a:ext cx="0" cy="61090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B68E35D-A489-D3B3-19EF-6DF64B0C6C78}"/>
              </a:ext>
            </a:extLst>
          </p:cNvPr>
          <p:cNvSpPr txBox="1"/>
          <p:nvPr/>
        </p:nvSpPr>
        <p:spPr>
          <a:xfrm>
            <a:off x="-68687" y="2607244"/>
            <a:ext cx="6062135" cy="2154436"/>
          </a:xfrm>
          <a:prstGeom prst="rect">
            <a:avLst/>
          </a:prstGeom>
          <a:noFill/>
        </p:spPr>
        <p:txBody>
          <a:bodyPr wrap="square" rtlCol="0">
            <a:spAutoFit/>
          </a:bodyPr>
          <a:lstStyle/>
          <a:p>
            <a:br>
              <a:rPr lang="en-US"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Data Description :-</a:t>
            </a:r>
          </a:p>
          <a:p>
            <a:r>
              <a:rPr lang="en-US" dirty="0">
                <a:latin typeface="Times New Roman" panose="02020603050405020304" pitchFamily="18" charset="0"/>
                <a:cs typeface="Times New Roman" panose="02020603050405020304" pitchFamily="18" charset="0"/>
              </a:rPr>
              <a:t>			       This dataset contains information 					       about Netflix Movies and TV Shows 				       including directors, country, ratings, release   		               year, duration, and genres.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9E8C0D98-AA51-78B5-345B-EDE24356FA17}"/>
              </a:ext>
            </a:extLst>
          </p:cNvPr>
          <p:cNvSpPr txBox="1"/>
          <p:nvPr/>
        </p:nvSpPr>
        <p:spPr>
          <a:xfrm>
            <a:off x="-68688" y="4433180"/>
            <a:ext cx="6062135" cy="215443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Dataset Overview :-</a:t>
            </a:r>
          </a:p>
          <a:p>
            <a:r>
              <a:rPr lang="en-US" dirty="0">
                <a:latin typeface="Times New Roman" panose="02020603050405020304" pitchFamily="18" charset="0"/>
                <a:cs typeface="Times New Roman" panose="02020603050405020304" pitchFamily="18" charset="0"/>
              </a:rPr>
              <a:t>			  •   Total Records: </a:t>
            </a:r>
            <a:r>
              <a:rPr lang="en-US" dirty="0"/>
              <a:t>8807</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   Total Columns: 12 </a:t>
            </a:r>
          </a:p>
          <a:p>
            <a:r>
              <a:rPr lang="en-US" dirty="0">
                <a:latin typeface="Times New Roman" panose="02020603050405020304" pitchFamily="18" charset="0"/>
                <a:cs typeface="Times New Roman" panose="02020603050405020304" pitchFamily="18" charset="0"/>
              </a:rPr>
              <a:t>			  •   File Format: CSV </a:t>
            </a:r>
          </a:p>
          <a:p>
            <a:r>
              <a:rPr lang="en-US" dirty="0">
                <a:latin typeface="Times New Roman" panose="02020603050405020304" pitchFamily="18" charset="0"/>
                <a:cs typeface="Times New Roman" panose="02020603050405020304" pitchFamily="18" charset="0"/>
              </a:rPr>
              <a:t>	                  •   Key Columns: title, director, country, rating, 						       </a:t>
            </a:r>
            <a:r>
              <a:rPr lang="en-US" dirty="0" err="1">
                <a:latin typeface="Times New Roman" panose="02020603050405020304" pitchFamily="18" charset="0"/>
                <a:cs typeface="Times New Roman" panose="02020603050405020304" pitchFamily="18" charset="0"/>
              </a:rPr>
              <a:t>release_year,duration</a:t>
            </a:r>
            <a:r>
              <a:rPr lang="en-US" dirty="0">
                <a:latin typeface="Times New Roman" panose="02020603050405020304" pitchFamily="18" charset="0"/>
                <a:cs typeface="Times New Roman" panose="02020603050405020304" pitchFamily="18" charset="0"/>
              </a:rPr>
              <a:t>, genres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AF64E2D2-8BAE-D780-38AE-E1DE4F3A7BC5}"/>
              </a:ext>
            </a:extLst>
          </p:cNvPr>
          <p:cNvSpPr txBox="1"/>
          <p:nvPr/>
        </p:nvSpPr>
        <p:spPr>
          <a:xfrm>
            <a:off x="5993447" y="723204"/>
            <a:ext cx="7552267" cy="707886"/>
          </a:xfrm>
          <a:prstGeom prst="rect">
            <a:avLst/>
          </a:prstGeom>
          <a:noFill/>
        </p:spPr>
        <p:txBody>
          <a:bodyPr wrap="square" rtlCol="0">
            <a:spAutoFit/>
          </a:bodyPr>
          <a:lstStyle/>
          <a:p>
            <a:pPr marL="91440"/>
            <a:r>
              <a:rPr lang="en-US" sz="2000" b="1" dirty="0">
                <a:latin typeface="Times New Roman" panose="02020603050405020304" pitchFamily="18" charset="0"/>
                <a:cs typeface="Times New Roman" panose="02020603050405020304" pitchFamily="18" charset="0"/>
              </a:rPr>
              <a:t>Data Types &amp; Null Summary :- </a:t>
            </a:r>
          </a:p>
          <a:p>
            <a:pPr marL="91440"/>
            <a:r>
              <a:rPr lang="en-US" sz="2000"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netflix.info ( )</a:t>
            </a:r>
            <a:endParaRPr lang="en-US" sz="2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E9428CF8-5309-31CA-EB76-2868E0D46920}"/>
              </a:ext>
            </a:extLst>
          </p:cNvPr>
          <p:cNvSpPr txBox="1"/>
          <p:nvPr/>
        </p:nvSpPr>
        <p:spPr>
          <a:xfrm>
            <a:off x="5989813" y="1440243"/>
            <a:ext cx="7552267" cy="707886"/>
          </a:xfrm>
          <a:prstGeom prst="rect">
            <a:avLst/>
          </a:prstGeom>
          <a:noFill/>
        </p:spPr>
        <p:txBody>
          <a:bodyPr wrap="square" rtlCol="0">
            <a:spAutoFit/>
          </a:bodyPr>
          <a:lstStyle/>
          <a:p>
            <a:pPr marL="91440"/>
            <a:r>
              <a:rPr lang="en-US" sz="2000" b="1" dirty="0">
                <a:latin typeface="Times New Roman" panose="02020603050405020304" pitchFamily="18" charset="0"/>
                <a:cs typeface="Times New Roman" panose="02020603050405020304" pitchFamily="18" charset="0"/>
              </a:rPr>
              <a:t>Statistical Summary :- </a:t>
            </a:r>
          </a:p>
          <a:p>
            <a:pPr marL="91440"/>
            <a:r>
              <a:rPr lang="en-US" dirty="0"/>
              <a:t>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netflix.describe</a:t>
            </a:r>
            <a:r>
              <a:rPr lang="en-US"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F2AFC6AD-6BC6-D62E-102F-1A4D222AC2A2}"/>
              </a:ext>
            </a:extLst>
          </p:cNvPr>
          <p:cNvSpPr txBox="1"/>
          <p:nvPr/>
        </p:nvSpPr>
        <p:spPr>
          <a:xfrm>
            <a:off x="5989812" y="2336927"/>
            <a:ext cx="7552267" cy="1261884"/>
          </a:xfrm>
          <a:prstGeom prst="rect">
            <a:avLst/>
          </a:prstGeom>
          <a:noFill/>
        </p:spPr>
        <p:txBody>
          <a:bodyPr wrap="square" rtlCol="0">
            <a:spAutoFit/>
          </a:bodyPr>
          <a:lstStyle/>
          <a:p>
            <a:pPr marL="91440"/>
            <a:r>
              <a:rPr lang="en-US" sz="2000" b="1" dirty="0">
                <a:latin typeface="Times New Roman" panose="02020603050405020304" pitchFamily="18" charset="0"/>
                <a:cs typeface="Times New Roman" panose="02020603050405020304" pitchFamily="18" charset="0"/>
              </a:rPr>
              <a:t>Missing Data Check :- </a:t>
            </a:r>
          </a:p>
          <a:p>
            <a:pPr marL="91440"/>
            <a:r>
              <a:rPr lang="en-US" dirty="0">
                <a:latin typeface="Times New Roman" panose="02020603050405020304" pitchFamily="18" charset="0"/>
                <a:cs typeface="Times New Roman" panose="02020603050405020304" pitchFamily="18" charset="0"/>
              </a:rPr>
              <a:t>				 Identifies columns containing null/missing </a:t>
            </a:r>
          </a:p>
          <a:p>
            <a:pPr marL="91440"/>
            <a:r>
              <a:rPr lang="en-US" dirty="0">
                <a:latin typeface="Times New Roman" panose="02020603050405020304" pitchFamily="18" charset="0"/>
                <a:cs typeface="Times New Roman" panose="02020603050405020304" pitchFamily="18" charset="0"/>
              </a:rPr>
              <a:t>	                         values to plan data cleaning steps. </a:t>
            </a:r>
            <a:br>
              <a:rPr lang="en-US" sz="2000"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EF696154-8A20-CD2D-F1B0-F2725D9CF5EE}"/>
              </a:ext>
            </a:extLst>
          </p:cNvPr>
          <p:cNvSpPr txBox="1"/>
          <p:nvPr/>
        </p:nvSpPr>
        <p:spPr>
          <a:xfrm>
            <a:off x="5994160" y="3395008"/>
            <a:ext cx="6164935" cy="2154436"/>
          </a:xfrm>
          <a:prstGeom prst="rect">
            <a:avLst/>
          </a:prstGeom>
          <a:noFill/>
        </p:spPr>
        <p:txBody>
          <a:bodyPr wrap="square" rtlCol="0">
            <a:spAutoFit/>
          </a:bodyPr>
          <a:lstStyle/>
          <a:p>
            <a:pPr marL="91440"/>
            <a:r>
              <a:rPr lang="en-US" sz="2400" b="1" dirty="0">
                <a:latin typeface="Times New Roman" panose="02020603050405020304" pitchFamily="18" charset="0"/>
                <a:cs typeface="Times New Roman" panose="02020603050405020304" pitchFamily="18" charset="0"/>
              </a:rPr>
              <a:t>Objective :-</a:t>
            </a:r>
          </a:p>
          <a:p>
            <a:pPr marL="91440"/>
            <a:r>
              <a:rPr lang="en-US" sz="2000"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slide presents the initial steps of the EDA 				process by importing the Netflix titles dataset 				and examining its structure. It includes data 					types, statistical summary, and missing value 				insights to understand data quality before 					visualization and analysis.</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37F5BBB9-6514-0D1F-EEFE-603E35630EDC}"/>
              </a:ext>
            </a:extLst>
          </p:cNvPr>
          <p:cNvSpPr txBox="1"/>
          <p:nvPr/>
        </p:nvSpPr>
        <p:spPr>
          <a:xfrm>
            <a:off x="1741715" y="52254"/>
            <a:ext cx="8647612"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Netflix Data :- Structure, Summary &amp; Import</a:t>
            </a:r>
            <a:endParaRPr lang="en-US" sz="2800"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DE24EB82-C6A5-2123-7E2C-C8B032719622}"/>
              </a:ext>
            </a:extLst>
          </p:cNvPr>
          <p:cNvCxnSpPr>
            <a:cxnSpLocks/>
          </p:cNvCxnSpPr>
          <p:nvPr/>
        </p:nvCxnSpPr>
        <p:spPr>
          <a:xfrm>
            <a:off x="2529840" y="514251"/>
            <a:ext cx="708152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725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8C0AE2-A509-70BD-7C85-1F1CBF842E7B}"/>
              </a:ext>
            </a:extLst>
          </p:cNvPr>
          <p:cNvSpPr txBox="1"/>
          <p:nvPr/>
        </p:nvSpPr>
        <p:spPr>
          <a:xfrm>
            <a:off x="2873829" y="0"/>
            <a:ext cx="5721531"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Netflix Data &amp; Column Preview</a:t>
            </a: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2B6FAAE-3720-1DCA-4DD4-A256A0959FDD}"/>
              </a:ext>
            </a:extLst>
          </p:cNvPr>
          <p:cNvSpPr txBox="1"/>
          <p:nvPr/>
        </p:nvSpPr>
        <p:spPr>
          <a:xfrm>
            <a:off x="0" y="627014"/>
            <a:ext cx="7837715" cy="1077218"/>
          </a:xfrm>
          <a:prstGeom prst="rect">
            <a:avLst/>
          </a:prstGeom>
          <a:noFill/>
        </p:spPr>
        <p:txBody>
          <a:bodyPr wrap="square" rtlCol="0">
            <a:spAutoFit/>
          </a:bodyPr>
          <a:lstStyle/>
          <a:p>
            <a:r>
              <a:rPr lang="en-US" sz="2000" i="1" dirty="0">
                <a:latin typeface="Times New Roman" panose="02020603050405020304" pitchFamily="18" charset="0"/>
                <a:cs typeface="Times New Roman" panose="02020603050405020304" pitchFamily="18" charset="0"/>
              </a:rPr>
              <a:t>First 10 rows displayed to understand dataset structure and column values</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netflix.head</a:t>
            </a:r>
            <a:r>
              <a:rPr lang="en-US" sz="2400" dirty="0">
                <a:latin typeface="Times New Roman" panose="02020603050405020304" pitchFamily="18" charset="0"/>
                <a:cs typeface="Times New Roman" panose="02020603050405020304" pitchFamily="18" charset="0"/>
              </a:rPr>
              <a:t> (10)</a:t>
            </a: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6B5CB17-B7B7-F888-405A-5DC70C0295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704232"/>
            <a:ext cx="11929533" cy="5061728"/>
          </a:xfrm>
          <a:prstGeom prst="rect">
            <a:avLst/>
          </a:prstGeom>
          <a:ln w="19050">
            <a:solidFill>
              <a:schemeClr val="tx1"/>
            </a:solidFill>
          </a:ln>
        </p:spPr>
      </p:pic>
      <p:cxnSp>
        <p:nvCxnSpPr>
          <p:cNvPr id="4" name="Straight Connector 3">
            <a:extLst>
              <a:ext uri="{FF2B5EF4-FFF2-40B4-BE49-F238E27FC236}">
                <a16:creationId xmlns:a16="http://schemas.microsoft.com/office/drawing/2014/main" id="{4A830585-F15D-F747-1D7F-507821D2162D}"/>
              </a:ext>
            </a:extLst>
          </p:cNvPr>
          <p:cNvCxnSpPr>
            <a:cxnSpLocks/>
          </p:cNvCxnSpPr>
          <p:nvPr/>
        </p:nvCxnSpPr>
        <p:spPr>
          <a:xfrm>
            <a:off x="3088640" y="492740"/>
            <a:ext cx="545592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3856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844BE5-EA04-61BF-F7C6-14AB54324778}"/>
              </a:ext>
            </a:extLst>
          </p:cNvPr>
          <p:cNvSpPr txBox="1"/>
          <p:nvPr/>
        </p:nvSpPr>
        <p:spPr>
          <a:xfrm>
            <a:off x="1710270" y="-53968"/>
            <a:ext cx="76454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Data Cleaning &amp; Pre-Processing</a:t>
            </a:r>
          </a:p>
        </p:txBody>
      </p:sp>
      <p:sp>
        <p:nvSpPr>
          <p:cNvPr id="3" name="TextBox 2">
            <a:extLst>
              <a:ext uri="{FF2B5EF4-FFF2-40B4-BE49-F238E27FC236}">
                <a16:creationId xmlns:a16="http://schemas.microsoft.com/office/drawing/2014/main" id="{EE0781C7-72FC-4D2D-36D6-5783A9D92804}"/>
              </a:ext>
            </a:extLst>
          </p:cNvPr>
          <p:cNvSpPr txBox="1"/>
          <p:nvPr/>
        </p:nvSpPr>
        <p:spPr>
          <a:xfrm>
            <a:off x="0" y="442181"/>
            <a:ext cx="11565467"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Preparing Netflix data for analysis by inspecting structure, removing inconsistencies, and extracting time-based features.</a:t>
            </a:r>
          </a:p>
        </p:txBody>
      </p:sp>
      <p:sp>
        <p:nvSpPr>
          <p:cNvPr id="11" name="Rectangle 5">
            <a:extLst>
              <a:ext uri="{FF2B5EF4-FFF2-40B4-BE49-F238E27FC236}">
                <a16:creationId xmlns:a16="http://schemas.microsoft.com/office/drawing/2014/main" id="{41B4AFE1-D7D7-B743-A22D-020155790900}"/>
              </a:ext>
            </a:extLst>
          </p:cNvPr>
          <p:cNvSpPr>
            <a:spLocks noChangeArrowheads="1"/>
          </p:cNvSpPr>
          <p:nvPr/>
        </p:nvSpPr>
        <p:spPr bwMode="auto">
          <a:xfrm>
            <a:off x="-8714" y="811513"/>
            <a:ext cx="5338354"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Displayed column names.</a:t>
            </a:r>
          </a:p>
          <a:p>
            <a:pPr lvl="0" defTabSz="914400" eaLnBrk="0" fontAlgn="base" hangingPunct="0">
              <a:lnSpc>
                <a:spcPct val="150000"/>
              </a:lnSpc>
              <a:spcBef>
                <a:spcPct val="0"/>
              </a:spcBef>
              <a:spcAft>
                <a:spcPct val="0"/>
              </a:spcAft>
              <a:buFontTx/>
              <a:buChar char="•"/>
            </a:pPr>
            <a:r>
              <a:rPr lang="en-US" sz="2000" dirty="0">
                <a:latin typeface="Times New Roman" panose="02020603050405020304" pitchFamily="18" charset="0"/>
                <a:cs typeface="Times New Roman" panose="02020603050405020304" pitchFamily="18" charset="0"/>
              </a:rPr>
              <a:t> Identified missing values per column.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Calculated unique values and cardinality.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Checked duplicate records.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Created a safe copy for non-destructive cleaning.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Trimmed whitespace in text columns.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date_added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datetime format.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Extracted day, month, and year features.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Validated ratings using a predefined allowed list.</a:t>
            </a:r>
          </a:p>
        </p:txBody>
      </p:sp>
      <p:cxnSp>
        <p:nvCxnSpPr>
          <p:cNvPr id="13" name="Straight Connector 12">
            <a:extLst>
              <a:ext uri="{FF2B5EF4-FFF2-40B4-BE49-F238E27FC236}">
                <a16:creationId xmlns:a16="http://schemas.microsoft.com/office/drawing/2014/main" id="{FAB043B8-8D80-4E76-E254-5B6D3C750D4E}"/>
              </a:ext>
            </a:extLst>
          </p:cNvPr>
          <p:cNvCxnSpPr/>
          <p:nvPr/>
        </p:nvCxnSpPr>
        <p:spPr>
          <a:xfrm>
            <a:off x="5329640" y="953531"/>
            <a:ext cx="0" cy="59044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21BFDDB-98F5-77C2-9BA2-E1C3297C0F66}"/>
              </a:ext>
            </a:extLst>
          </p:cNvPr>
          <p:cNvSpPr txBox="1"/>
          <p:nvPr/>
        </p:nvSpPr>
        <p:spPr>
          <a:xfrm>
            <a:off x="5357216" y="883128"/>
            <a:ext cx="7461800" cy="5755422"/>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 Dataset inspection </a:t>
            </a:r>
          </a:p>
          <a:p>
            <a:r>
              <a:rPr lang="en-US" sz="1600" dirty="0" err="1">
                <a:latin typeface="Times New Roman" panose="02020603050405020304" pitchFamily="18" charset="0"/>
                <a:cs typeface="Times New Roman" panose="02020603050405020304" pitchFamily="18" charset="0"/>
              </a:rPr>
              <a:t>netflix.columns</a:t>
            </a:r>
            <a:endParaRPr lang="en-US"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netflix.isnull</a:t>
            </a:r>
            <a:r>
              <a:rPr lang="en-US" sz="1600" dirty="0">
                <a:latin typeface="Times New Roman" panose="02020603050405020304" pitchFamily="18" charset="0"/>
                <a:cs typeface="Times New Roman" panose="02020603050405020304" pitchFamily="18" charset="0"/>
              </a:rPr>
              <a:t> ( ).sum ( )</a:t>
            </a:r>
          </a:p>
          <a:p>
            <a:r>
              <a:rPr lang="en-US" sz="1600" dirty="0" err="1">
                <a:latin typeface="Times New Roman" panose="02020603050405020304" pitchFamily="18" charset="0"/>
                <a:cs typeface="Times New Roman" panose="02020603050405020304" pitchFamily="18" charset="0"/>
              </a:rPr>
              <a:t>netflix.nunique</a:t>
            </a:r>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netflix.duplicated</a:t>
            </a:r>
            <a:r>
              <a:rPr lang="en-US" sz="1600" dirty="0">
                <a:latin typeface="Times New Roman" panose="02020603050405020304" pitchFamily="18" charset="0"/>
                <a:cs typeface="Times New Roman" panose="02020603050405020304" pitchFamily="18" charset="0"/>
              </a:rPr>
              <a:t>().sum()</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Text and date cleaning</a:t>
            </a:r>
          </a:p>
          <a:p>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date_added</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date_added</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str.strip</a:t>
            </a:r>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date_added</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pd.to_datetime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date_added</a:t>
            </a:r>
            <a:r>
              <a:rPr lang="en-US" sz="1600" dirty="0">
                <a:latin typeface="Times New Roman" panose="02020603050405020304" pitchFamily="18" charset="0"/>
                <a:cs typeface="Times New Roman" panose="02020603050405020304" pitchFamily="18" charset="0"/>
              </a:rPr>
              <a:t>'], format='%B %d, %Y', errors='coerce’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Feature extraction</a:t>
            </a:r>
          </a:p>
          <a:p>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day_added</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date_added</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dt.day</a:t>
            </a:r>
            <a:endParaRPr lang="en-US"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month_added</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date_added</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dt.month</a:t>
            </a:r>
            <a:endParaRPr lang="en-US"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year_added</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date_added</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dt.year</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Rating validation and final cleaned dataset</a:t>
            </a:r>
          </a:p>
          <a:p>
            <a:r>
              <a:rPr lang="en-US" sz="1600" dirty="0" err="1">
                <a:latin typeface="Times New Roman" panose="02020603050405020304" pitchFamily="18" charset="0"/>
                <a:cs typeface="Times New Roman" panose="02020603050405020304" pitchFamily="18" charset="0"/>
              </a:rPr>
              <a:t>valid_ratings</a:t>
            </a:r>
            <a:r>
              <a:rPr lang="en-US" sz="1600" dirty="0">
                <a:latin typeface="Times New Roman" panose="02020603050405020304" pitchFamily="18" charset="0"/>
                <a:cs typeface="Times New Roman" panose="02020603050405020304" pitchFamily="18" charset="0"/>
              </a:rPr>
              <a:t> = [</a:t>
            </a:r>
          </a:p>
          <a:p>
            <a:r>
              <a:rPr lang="en-US" sz="1600" dirty="0">
                <a:latin typeface="Times New Roman" panose="02020603050405020304" pitchFamily="18" charset="0"/>
                <a:cs typeface="Times New Roman" panose="02020603050405020304" pitchFamily="18" charset="0"/>
              </a:rPr>
              <a:t>    "TV-MA", "TV-14", "TV-PG", "R", "PG-13", "TV-Y", "TV-Y7",</a:t>
            </a:r>
          </a:p>
          <a:p>
            <a:r>
              <a:rPr lang="en-US" sz="1600" dirty="0">
                <a:latin typeface="Times New Roman" panose="02020603050405020304" pitchFamily="18" charset="0"/>
                <a:cs typeface="Times New Roman" panose="02020603050405020304" pitchFamily="18" charset="0"/>
              </a:rPr>
              <a:t>    "PG", "TV-G", "TV-G", "NR", "G", "TV-Y7-FV", "NC-17",</a:t>
            </a:r>
          </a:p>
          <a:p>
            <a:r>
              <a:rPr lang="en-US" sz="1600" dirty="0">
                <a:latin typeface="Times New Roman" panose="02020603050405020304" pitchFamily="18" charset="0"/>
                <a:cs typeface="Times New Roman" panose="02020603050405020304" pitchFamily="18" charset="0"/>
              </a:rPr>
              <a:t>    "UR", "Not Specified"</a:t>
            </a:r>
          </a:p>
          <a:p>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df_clean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['rating'].</a:t>
            </a:r>
            <a:r>
              <a:rPr lang="en-US" sz="1600" dirty="0" err="1">
                <a:latin typeface="Times New Roman" panose="02020603050405020304" pitchFamily="18" charset="0"/>
                <a:cs typeface="Times New Roman" panose="02020603050405020304" pitchFamily="18" charset="0"/>
              </a:rPr>
              <a:t>isin</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valid_ratings</a:t>
            </a:r>
            <a:r>
              <a:rPr lang="en-US" sz="1600" dirty="0">
                <a:latin typeface="Times New Roman" panose="02020603050405020304" pitchFamily="18" charset="0"/>
                <a:cs typeface="Times New Roman" panose="02020603050405020304" pitchFamily="18" charset="0"/>
              </a:rPr>
              <a:t>)]</a:t>
            </a:r>
          </a:p>
        </p:txBody>
      </p:sp>
      <p:sp>
        <p:nvSpPr>
          <p:cNvPr id="16" name="TextBox 15">
            <a:extLst>
              <a:ext uri="{FF2B5EF4-FFF2-40B4-BE49-F238E27FC236}">
                <a16:creationId xmlns:a16="http://schemas.microsoft.com/office/drawing/2014/main" id="{0BD13DD0-7782-FEAF-DCBF-8FF7DF5622D3}"/>
              </a:ext>
            </a:extLst>
          </p:cNvPr>
          <p:cNvSpPr txBox="1"/>
          <p:nvPr/>
        </p:nvSpPr>
        <p:spPr>
          <a:xfrm>
            <a:off x="-15004" y="5173010"/>
            <a:ext cx="3587931" cy="923330"/>
          </a:xfrm>
          <a:prstGeom prst="rect">
            <a:avLst/>
          </a:prstGeom>
          <a:noFill/>
        </p:spPr>
        <p:txBody>
          <a:bodyPr wrap="square" rtlCol="0">
            <a:spAutoFit/>
          </a:bodyPr>
          <a:lstStyle/>
          <a:p>
            <a:r>
              <a:rPr lang="en-US" dirty="0"/>
              <a:t>For importing library :- </a:t>
            </a:r>
          </a:p>
          <a:p>
            <a:r>
              <a:rPr lang="en-US" dirty="0">
                <a:latin typeface="Times New Roman" panose="02020603050405020304" pitchFamily="18" charset="0"/>
                <a:cs typeface="Times New Roman" panose="02020603050405020304" pitchFamily="18" charset="0"/>
              </a:rPr>
              <a:t>			import pandas as pd</a:t>
            </a:r>
          </a:p>
          <a:p>
            <a:endParaRPr lang="en-US" dirty="0"/>
          </a:p>
        </p:txBody>
      </p:sp>
      <p:sp>
        <p:nvSpPr>
          <p:cNvPr id="17" name="TextBox 16">
            <a:extLst>
              <a:ext uri="{FF2B5EF4-FFF2-40B4-BE49-F238E27FC236}">
                <a16:creationId xmlns:a16="http://schemas.microsoft.com/office/drawing/2014/main" id="{CFA31DA4-6635-650A-D0AE-51A4B17AC4CC}"/>
              </a:ext>
            </a:extLst>
          </p:cNvPr>
          <p:cNvSpPr txBox="1"/>
          <p:nvPr/>
        </p:nvSpPr>
        <p:spPr>
          <a:xfrm>
            <a:off x="0" y="5942690"/>
            <a:ext cx="4720045"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For making the copy of a dataset :-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netflix.copy</a:t>
            </a:r>
            <a:r>
              <a:rPr lang="en-US" dirty="0">
                <a:latin typeface="Times New Roman" panose="02020603050405020304" pitchFamily="18" charset="0"/>
                <a:cs typeface="Times New Roman" panose="02020603050405020304" pitchFamily="18" charset="0"/>
              </a:rPr>
              <a:t> ( )</a:t>
            </a:r>
          </a:p>
        </p:txBody>
      </p:sp>
      <p:cxnSp>
        <p:nvCxnSpPr>
          <p:cNvPr id="18" name="Straight Connector 17">
            <a:extLst>
              <a:ext uri="{FF2B5EF4-FFF2-40B4-BE49-F238E27FC236}">
                <a16:creationId xmlns:a16="http://schemas.microsoft.com/office/drawing/2014/main" id="{F0891E63-CDAF-1220-C1D3-019037440E0B}"/>
              </a:ext>
            </a:extLst>
          </p:cNvPr>
          <p:cNvCxnSpPr>
            <a:cxnSpLocks/>
          </p:cNvCxnSpPr>
          <p:nvPr/>
        </p:nvCxnSpPr>
        <p:spPr>
          <a:xfrm>
            <a:off x="2875280" y="443131"/>
            <a:ext cx="535432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9066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D94368-4E95-54B1-C250-22D0171EADB6}"/>
              </a:ext>
            </a:extLst>
          </p:cNvPr>
          <p:cNvSpPr txBox="1"/>
          <p:nvPr/>
        </p:nvSpPr>
        <p:spPr>
          <a:xfrm>
            <a:off x="1808480" y="-91440"/>
            <a:ext cx="85750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Data Analysis &amp; Dataset Extremes</a:t>
            </a:r>
          </a:p>
        </p:txBody>
      </p:sp>
      <p:sp>
        <p:nvSpPr>
          <p:cNvPr id="4" name="TextBox 3">
            <a:extLst>
              <a:ext uri="{FF2B5EF4-FFF2-40B4-BE49-F238E27FC236}">
                <a16:creationId xmlns:a16="http://schemas.microsoft.com/office/drawing/2014/main" id="{DF35C04D-5D88-B112-9DB4-FDC4E35C986C}"/>
              </a:ext>
            </a:extLst>
          </p:cNvPr>
          <p:cNvSpPr txBox="1"/>
          <p:nvPr/>
        </p:nvSpPr>
        <p:spPr>
          <a:xfrm>
            <a:off x="0" y="605691"/>
            <a:ext cx="11978640" cy="461665"/>
          </a:xfrm>
          <a:prstGeom prst="rect">
            <a:avLst/>
          </a:prstGeom>
          <a:noFill/>
        </p:spPr>
        <p:txBody>
          <a:bodyPr wrap="square">
            <a:spAutoFit/>
          </a:bodyPr>
          <a:lstStyle/>
          <a:p>
            <a:r>
              <a:rPr lang="en-US" sz="2400" i="1" dirty="0">
                <a:latin typeface="Times New Roman" panose="02020603050405020304" pitchFamily="18" charset="0"/>
                <a:cs typeface="Times New Roman" panose="02020603050405020304" pitchFamily="18" charset="0"/>
              </a:rPr>
              <a:t>Extracting key outliers and dominant attributes to identify notable trends before visualization.</a:t>
            </a:r>
          </a:p>
        </p:txBody>
      </p:sp>
      <p:cxnSp>
        <p:nvCxnSpPr>
          <p:cNvPr id="6" name="Straight Connector 5">
            <a:extLst>
              <a:ext uri="{FF2B5EF4-FFF2-40B4-BE49-F238E27FC236}">
                <a16:creationId xmlns:a16="http://schemas.microsoft.com/office/drawing/2014/main" id="{90273A41-E203-35E4-77C6-D3558E5507DE}"/>
              </a:ext>
            </a:extLst>
          </p:cNvPr>
          <p:cNvCxnSpPr>
            <a:cxnSpLocks/>
          </p:cNvCxnSpPr>
          <p:nvPr/>
        </p:nvCxnSpPr>
        <p:spPr>
          <a:xfrm>
            <a:off x="2529840" y="504091"/>
            <a:ext cx="708152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D9332C8-1F53-E82D-1F02-81E404BFD644}"/>
              </a:ext>
            </a:extLst>
          </p:cNvPr>
          <p:cNvSpPr txBox="1"/>
          <p:nvPr/>
        </p:nvSpPr>
        <p:spPr>
          <a:xfrm>
            <a:off x="-50800" y="1099623"/>
            <a:ext cx="7612380" cy="6463308"/>
          </a:xfrm>
          <a:prstGeom prst="rect">
            <a:avLst/>
          </a:prstGeom>
          <a:noFill/>
        </p:spPr>
        <p:txBody>
          <a:bodyPr wrap="square">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Oldest Movie Title :-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df.loc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['type'] == 'Movie']['</a:t>
            </a:r>
            <a:r>
              <a:rPr lang="en-US" dirty="0" err="1">
                <a:latin typeface="Times New Roman" panose="02020603050405020304" pitchFamily="18" charset="0"/>
                <a:cs typeface="Times New Roman" panose="02020603050405020304" pitchFamily="18" charset="0"/>
              </a:rPr>
              <a:t>release_year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idxmin</a:t>
            </a:r>
            <a:r>
              <a:rPr lang="en-US" dirty="0">
                <a:latin typeface="Times New Roman" panose="02020603050405020304" pitchFamily="18" charset="0"/>
                <a:cs typeface="Times New Roman" panose="02020603050405020304" pitchFamily="18" charset="0"/>
              </a:rPr>
              <a:t>(), 'title’]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Oldest TV Show Title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df.loc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['type'] == 'TV Show']['</a:t>
            </a:r>
            <a:r>
              <a:rPr lang="en-US" dirty="0" err="1">
                <a:latin typeface="Times New Roman" panose="02020603050405020304" pitchFamily="18" charset="0"/>
                <a:cs typeface="Times New Roman" panose="02020603050405020304" pitchFamily="18" charset="0"/>
              </a:rPr>
              <a:t>release_year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idxmin</a:t>
            </a:r>
            <a:r>
              <a:rPr lang="en-US" dirty="0">
                <a:latin typeface="Times New Roman" panose="02020603050405020304" pitchFamily="18" charset="0"/>
                <a:cs typeface="Times New Roman" panose="02020603050405020304" pitchFamily="18" charset="0"/>
              </a:rPr>
              <a:t>(), 'title’]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Director with Most Content :-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['Director'] != 'Not Specified']['Director'].</a:t>
            </a:r>
            <a:r>
              <a:rPr lang="en-US" dirty="0" err="1">
                <a:latin typeface="Times New Roman" panose="02020603050405020304" pitchFamily="18" charset="0"/>
                <a:cs typeface="Times New Roman" panose="02020603050405020304" pitchFamily="18" charset="0"/>
              </a:rPr>
              <a:t>value_counts</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idxmax</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Longest Duration TV Show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df.loc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['Type'] == 'TV Show']['</a:t>
            </a:r>
            <a:r>
              <a:rPr lang="en-US" dirty="0" err="1">
                <a:latin typeface="Times New Roman" panose="02020603050405020304" pitchFamily="18" charset="0"/>
                <a:cs typeface="Times New Roman" panose="02020603050405020304" pitchFamily="18" charset="0"/>
              </a:rPr>
              <a:t>Duration_value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idxmax</a:t>
            </a:r>
            <a:r>
              <a:rPr lang="en-US" dirty="0">
                <a:latin typeface="Times New Roman" panose="02020603050405020304" pitchFamily="18" charset="0"/>
                <a:cs typeface="Times New Roman" panose="02020603050405020304" pitchFamily="18" charset="0"/>
              </a:rPr>
              <a:t>(), 'Title’]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Longest Duration Movie :-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df.loc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['Type'] == 'Movie']['</a:t>
            </a:r>
            <a:r>
              <a:rPr lang="en-US" dirty="0" err="1">
                <a:latin typeface="Times New Roman" panose="02020603050405020304" pitchFamily="18" charset="0"/>
                <a:cs typeface="Times New Roman" panose="02020603050405020304" pitchFamily="18" charset="0"/>
              </a:rPr>
              <a:t>Duration_value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idxmax</a:t>
            </a:r>
            <a:r>
              <a:rPr lang="en-US" dirty="0">
                <a:latin typeface="Times New Roman" panose="02020603050405020304" pitchFamily="18" charset="0"/>
                <a:cs typeface="Times New Roman" panose="02020603050405020304" pitchFamily="18" charset="0"/>
              </a:rPr>
              <a:t>(), 'Title’]</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E4896BC-25B0-4FF6-0FB2-66ECFFDEE7A7}"/>
              </a:ext>
            </a:extLst>
          </p:cNvPr>
          <p:cNvSpPr txBox="1"/>
          <p:nvPr/>
        </p:nvSpPr>
        <p:spPr>
          <a:xfrm>
            <a:off x="7602220" y="1384102"/>
            <a:ext cx="6192520" cy="4524315"/>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Most Common Genre Category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listed_in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value_counts</a:t>
            </a:r>
            <a:r>
              <a:rPr lang="en-US" dirty="0">
                <a:latin typeface="Times New Roman" panose="02020603050405020304" pitchFamily="18" charset="0"/>
                <a:cs typeface="Times New Roman" panose="02020603050405020304" pitchFamily="18" charset="0"/>
              </a:rPr>
              <a:t>().head(3)</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Content Released Per Year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release_year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value_counts</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Highly Unique Columns (Top 3) :- </a:t>
            </a:r>
          </a:p>
          <a:p>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df.nunique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sort_values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(ascending=False).head(3)</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Common Country Producing Content :-</a:t>
            </a:r>
          </a:p>
          <a:p>
            <a:r>
              <a:rPr lang="en-US" b="1" dirty="0">
                <a:latin typeface="Times New Roman" panose="02020603050405020304" pitchFamily="18" charset="0"/>
                <a:cs typeface="Times New Roman" panose="02020603050405020304" pitchFamily="18" charset="0"/>
              </a:rPr>
              <a:t>		 </a:t>
            </a:r>
            <a:r>
              <a:rPr lang="en-US" dirty="0" err="1"/>
              <a:t>df</a:t>
            </a:r>
            <a:r>
              <a:rPr lang="en-US" dirty="0"/>
              <a:t>['country'].</a:t>
            </a:r>
            <a:r>
              <a:rPr lang="en-US" dirty="0" err="1"/>
              <a:t>value_counts</a:t>
            </a:r>
            <a:r>
              <a:rPr lang="en-US" dirty="0"/>
              <a:t>().</a:t>
            </a:r>
            <a:r>
              <a:rPr lang="en-US" dirty="0" err="1"/>
              <a:t>idxmax</a:t>
            </a:r>
            <a:r>
              <a:rPr lang="en-US" dirty="0"/>
              <a:t>()</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008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C7DF6A-4592-7CE8-3813-25F0CEDE1278}"/>
              </a:ext>
            </a:extLst>
          </p:cNvPr>
          <p:cNvSpPr txBox="1"/>
          <p:nvPr/>
        </p:nvSpPr>
        <p:spPr>
          <a:xfrm>
            <a:off x="2827866" y="-100000"/>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Data Visualization Overview</a:t>
            </a:r>
          </a:p>
        </p:txBody>
      </p:sp>
      <p:cxnSp>
        <p:nvCxnSpPr>
          <p:cNvPr id="6" name="Straight Connector 5">
            <a:extLst>
              <a:ext uri="{FF2B5EF4-FFF2-40B4-BE49-F238E27FC236}">
                <a16:creationId xmlns:a16="http://schemas.microsoft.com/office/drawing/2014/main" id="{79C227F9-18F3-5D37-D336-416F5FF01213}"/>
              </a:ext>
            </a:extLst>
          </p:cNvPr>
          <p:cNvCxnSpPr>
            <a:cxnSpLocks/>
          </p:cNvCxnSpPr>
          <p:nvPr/>
        </p:nvCxnSpPr>
        <p:spPr>
          <a:xfrm>
            <a:off x="2929468" y="470223"/>
            <a:ext cx="589279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8345FCB-0716-AE2F-4D39-CF63DB486BA2}"/>
              </a:ext>
            </a:extLst>
          </p:cNvPr>
          <p:cNvSpPr txBox="1"/>
          <p:nvPr/>
        </p:nvSpPr>
        <p:spPr>
          <a:xfrm>
            <a:off x="0" y="678551"/>
            <a:ext cx="9958497" cy="400110"/>
          </a:xfrm>
          <a:prstGeom prst="rect">
            <a:avLst/>
          </a:prstGeom>
          <a:noFill/>
        </p:spPr>
        <p:txBody>
          <a:bodyPr wrap="square">
            <a:spAutoFit/>
          </a:bodyPr>
          <a:lstStyle/>
          <a:p>
            <a:r>
              <a:rPr lang="en-US" sz="2000" i="1" dirty="0">
                <a:latin typeface="Times New Roman" panose="02020603050405020304" pitchFamily="18" charset="0"/>
                <a:cs typeface="Times New Roman" panose="02020603050405020304" pitchFamily="18" charset="0"/>
              </a:rPr>
              <a:t>Understanding Netflix dataset through powerful visual storytelling using Python libraries.</a:t>
            </a:r>
          </a:p>
        </p:txBody>
      </p:sp>
      <p:sp>
        <p:nvSpPr>
          <p:cNvPr id="12" name="TextBox 11">
            <a:extLst>
              <a:ext uri="{FF2B5EF4-FFF2-40B4-BE49-F238E27FC236}">
                <a16:creationId xmlns:a16="http://schemas.microsoft.com/office/drawing/2014/main" id="{618C4276-3FF4-957F-721B-0D88B7C374FE}"/>
              </a:ext>
            </a:extLst>
          </p:cNvPr>
          <p:cNvSpPr txBox="1"/>
          <p:nvPr/>
        </p:nvSpPr>
        <p:spPr>
          <a:xfrm>
            <a:off x="0" y="1582071"/>
            <a:ext cx="6961711"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Tools &amp; Libraries Used for Visualization :-</a:t>
            </a:r>
          </a:p>
        </p:txBody>
      </p:sp>
      <p:sp>
        <p:nvSpPr>
          <p:cNvPr id="14" name="Rectangle 1">
            <a:extLst>
              <a:ext uri="{FF2B5EF4-FFF2-40B4-BE49-F238E27FC236}">
                <a16:creationId xmlns:a16="http://schemas.microsoft.com/office/drawing/2014/main" id="{A605842C-573E-867C-C19D-7D92CF52C3FE}"/>
              </a:ext>
            </a:extLst>
          </p:cNvPr>
          <p:cNvSpPr>
            <a:spLocks noChangeArrowheads="1"/>
          </p:cNvSpPr>
          <p:nvPr/>
        </p:nvSpPr>
        <p:spPr bwMode="auto">
          <a:xfrm>
            <a:off x="99760" y="2302760"/>
            <a:ext cx="5905784"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 filtering, grouping &amp; transformation.</a:t>
            </a:r>
          </a:p>
          <a:p>
            <a:pPr lvl="0" defTabSz="914400" eaLnBrk="0" fontAlgn="base" hangingPunct="0">
              <a:lnSpc>
                <a:spcPct val="150000"/>
              </a:lnSpc>
              <a:spcBef>
                <a:spcPct val="0"/>
              </a:spcBef>
              <a:spcAft>
                <a:spcPct val="0"/>
              </a:spcAft>
              <a:buFontTx/>
              <a:buChar char="•"/>
            </a:pPr>
            <a:r>
              <a:rPr lang="en-US" sz="2000" b="1" dirty="0">
                <a:latin typeface="Times New Roman" panose="02020603050405020304" pitchFamily="18" charset="0"/>
                <a:cs typeface="Times New Roman" panose="02020603050405020304" pitchFamily="18" charset="0"/>
              </a:rPr>
              <a:t>  Matplotlib</a:t>
            </a:r>
            <a:r>
              <a:rPr lang="en-US" sz="2000" dirty="0">
                <a:latin typeface="Times New Roman" panose="02020603050405020304" pitchFamily="18" charset="0"/>
                <a:cs typeface="Times New Roman" panose="02020603050405020304" pitchFamily="18" charset="0"/>
              </a:rPr>
              <a:t> → Standard static plots.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Seaborn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Enhanced statistical visuals.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Plotly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Interactive charts for presentations.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PowerPoint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Visual report design &amp; storytelling.</a:t>
            </a:r>
          </a:p>
        </p:txBody>
      </p:sp>
      <p:pic>
        <p:nvPicPr>
          <p:cNvPr id="1029" name="Picture 5" descr="Seaborn icon - Free Download PNG &amp; SVG | Streamline">
            <a:extLst>
              <a:ext uri="{FF2B5EF4-FFF2-40B4-BE49-F238E27FC236}">
                <a16:creationId xmlns:a16="http://schemas.microsoft.com/office/drawing/2014/main" id="{40E1B926-F655-8D1C-AF80-777C543077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2455" y="1393421"/>
            <a:ext cx="2593844" cy="2593844"/>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Matplotlib">
            <a:extLst>
              <a:ext uri="{FF2B5EF4-FFF2-40B4-BE49-F238E27FC236}">
                <a16:creationId xmlns:a16="http://schemas.microsoft.com/office/drawing/2014/main" id="{F453F3B4-5647-9E91-59A0-0D89D95B58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7005" y="2536982"/>
            <a:ext cx="1996424" cy="1996424"/>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F5FC8968-2D5A-6DE0-5BAC-B9D3262E62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9373" y="603541"/>
            <a:ext cx="3213391" cy="2095596"/>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a:extLst>
              <a:ext uri="{FF2B5EF4-FFF2-40B4-BE49-F238E27FC236}">
                <a16:creationId xmlns:a16="http://schemas.microsoft.com/office/drawing/2014/main" id="{B69C92FE-F756-A624-F2FB-61E25BADD1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68486" y="3965371"/>
            <a:ext cx="2507057" cy="1015607"/>
          </a:xfrm>
          <a:prstGeom prst="rect">
            <a:avLst/>
          </a:prstGeom>
          <a:noFill/>
          <a:extLst>
            <a:ext uri="{909E8E84-426E-40DD-AFC4-6F175D3DCCD1}">
              <a14:hiddenFill xmlns:a14="http://schemas.microsoft.com/office/drawing/2010/main">
                <a:solidFill>
                  <a:srgbClr val="FFFFFF"/>
                </a:solidFill>
              </a14:hiddenFill>
            </a:ext>
          </a:extLst>
        </p:spPr>
      </p:pic>
      <p:sp>
        <p:nvSpPr>
          <p:cNvPr id="16" name="AutoShape 13" descr="Microsoft PowerPoint 2013 Logo PNG Vector (AI) Free Download">
            <a:extLst>
              <a:ext uri="{FF2B5EF4-FFF2-40B4-BE49-F238E27FC236}">
                <a16:creationId xmlns:a16="http://schemas.microsoft.com/office/drawing/2014/main" id="{B9FA5EFD-A108-BB8D-0F11-A0F4D2B88422}"/>
              </a:ext>
            </a:extLst>
          </p:cNvPr>
          <p:cNvSpPr>
            <a:spLocks noChangeAspect="1" noChangeArrowheads="1"/>
          </p:cNvSpPr>
          <p:nvPr/>
        </p:nvSpPr>
        <p:spPr bwMode="auto">
          <a:xfrm>
            <a:off x="6951547" y="4255695"/>
            <a:ext cx="2249430" cy="22494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15" descr="Microsoft PowerPoint 2013 Logo PNG Vector (AI) Free Download">
            <a:extLst>
              <a:ext uri="{FF2B5EF4-FFF2-40B4-BE49-F238E27FC236}">
                <a16:creationId xmlns:a16="http://schemas.microsoft.com/office/drawing/2014/main" id="{3BD62A60-2225-0560-EC60-C45328227C98}"/>
              </a:ext>
            </a:extLst>
          </p:cNvPr>
          <p:cNvSpPr>
            <a:spLocks noChangeAspect="1" noChangeArrowheads="1"/>
          </p:cNvSpPr>
          <p:nvPr/>
        </p:nvSpPr>
        <p:spPr bwMode="auto">
          <a:xfrm>
            <a:off x="8896177" y="425569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 name="Picture 19">
            <a:extLst>
              <a:ext uri="{FF2B5EF4-FFF2-40B4-BE49-F238E27FC236}">
                <a16:creationId xmlns:a16="http://schemas.microsoft.com/office/drawing/2014/main" id="{B9FB19BD-133B-F923-E526-1D3DB15005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04896" y="5157052"/>
            <a:ext cx="3008217" cy="1230725"/>
          </a:xfrm>
          <a:prstGeom prst="rect">
            <a:avLst/>
          </a:prstGeom>
        </p:spPr>
      </p:pic>
    </p:spTree>
    <p:extLst>
      <p:ext uri="{BB962C8B-B14F-4D97-AF65-F5344CB8AC3E}">
        <p14:creationId xmlns:p14="http://schemas.microsoft.com/office/powerpoint/2010/main" val="3856809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6E984B-36FF-D9C3-08D4-07822CAE1AD8}"/>
              </a:ext>
            </a:extLst>
          </p:cNvPr>
          <p:cNvSpPr txBox="1"/>
          <p:nvPr/>
        </p:nvSpPr>
        <p:spPr>
          <a:xfrm>
            <a:off x="0" y="0"/>
            <a:ext cx="9144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Count Analysis of Netflix Titles (Movies &amp; TV Shows ) :- </a:t>
            </a:r>
          </a:p>
        </p:txBody>
      </p:sp>
      <p:cxnSp>
        <p:nvCxnSpPr>
          <p:cNvPr id="4" name="Straight Connector 3">
            <a:extLst>
              <a:ext uri="{FF2B5EF4-FFF2-40B4-BE49-F238E27FC236}">
                <a16:creationId xmlns:a16="http://schemas.microsoft.com/office/drawing/2014/main" id="{1A1A5A09-E9BE-D4CC-FCFC-1A130581EB7A}"/>
              </a:ext>
            </a:extLst>
          </p:cNvPr>
          <p:cNvCxnSpPr>
            <a:cxnSpLocks/>
          </p:cNvCxnSpPr>
          <p:nvPr/>
        </p:nvCxnSpPr>
        <p:spPr>
          <a:xfrm>
            <a:off x="0" y="487157"/>
            <a:ext cx="861906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18A2A74-E36B-A180-2259-BECC0B0A42B4}"/>
              </a:ext>
            </a:extLst>
          </p:cNvPr>
          <p:cNvSpPr txBox="1"/>
          <p:nvPr/>
        </p:nvSpPr>
        <p:spPr>
          <a:xfrm>
            <a:off x="0" y="896432"/>
            <a:ext cx="6891867" cy="1732526"/>
          </a:xfrm>
          <a:prstGeom prst="rect">
            <a:avLst/>
          </a:prstGeom>
          <a:noFill/>
        </p:spPr>
        <p:txBody>
          <a:bodyPr wrap="square">
            <a:spAutoFit/>
          </a:bodyPr>
          <a:lstStyle/>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matplotlib.pyplot</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px.bar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a:t>
            </a:r>
            <a:r>
              <a:rPr lang="en-US" b="0" dirty="0" err="1">
                <a:solidFill>
                  <a:srgbClr val="D4D4D4"/>
                </a:solidFill>
                <a:effectLst/>
                <a:latin typeface="Courier New" panose="02070309020205020404" pitchFamily="49" charset="0"/>
              </a:rPr>
              <a:t>netflix</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'type'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.index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y=</a:t>
            </a:r>
            <a:r>
              <a:rPr lang="en-US" b="0" dirty="0" err="1">
                <a:solidFill>
                  <a:srgbClr val="D4D4D4"/>
                </a:solidFill>
                <a:effectLst/>
                <a:latin typeface="Courier New" panose="02070309020205020404" pitchFamily="49" charset="0"/>
              </a:rPr>
              <a:t>netflix</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'type'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.values</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labels=</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"x"</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"Type"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"y"</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"Count of Tv show and movies"</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CDCDC"/>
              </a:solidFill>
              <a:effectLst/>
              <a:latin typeface="Courier New" panose="02070309020205020404" pitchFamily="49" charset="0"/>
            </a:endParaRPr>
          </a:p>
          <a:p>
            <a:pPr>
              <a:lnSpc>
                <a:spcPts val="1425"/>
              </a:lnSpc>
              <a:buNone/>
            </a:pPr>
            <a:r>
              <a:rPr lang="en-US" dirty="0" err="1">
                <a:solidFill>
                  <a:srgbClr val="DCDCDC"/>
                </a:solidFill>
                <a:latin typeface="Courier New" panose="02070309020205020404" pitchFamily="49" charset="0"/>
              </a:rPr>
              <a:t>px</a:t>
            </a:r>
            <a:r>
              <a:rPr lang="en-US" b="0" dirty="0" err="1">
                <a:solidFill>
                  <a:srgbClr val="D4D4D4"/>
                </a:solidFill>
                <a:effectLst/>
                <a:latin typeface="Courier New" panose="02070309020205020404" pitchFamily="49" charset="0"/>
              </a:rPr>
              <a:t>.show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pic>
        <p:nvPicPr>
          <p:cNvPr id="10" name="Picture 9">
            <a:extLst>
              <a:ext uri="{FF2B5EF4-FFF2-40B4-BE49-F238E27FC236}">
                <a16:creationId xmlns:a16="http://schemas.microsoft.com/office/drawing/2014/main" id="{5D27E07D-A5D7-12E8-C963-1DD83BB536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025" y="2319867"/>
            <a:ext cx="8991574" cy="4512731"/>
          </a:xfrm>
          <a:prstGeom prst="rect">
            <a:avLst/>
          </a:prstGeom>
          <a:ln w="12700">
            <a:solidFill>
              <a:srgbClr val="FF0000"/>
            </a:solidFill>
          </a:ln>
        </p:spPr>
      </p:pic>
    </p:spTree>
    <p:extLst>
      <p:ext uri="{BB962C8B-B14F-4D97-AF65-F5344CB8AC3E}">
        <p14:creationId xmlns:p14="http://schemas.microsoft.com/office/powerpoint/2010/main" val="4234374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8FC91F-E195-66C0-27FC-93C92C48685B}"/>
              </a:ext>
            </a:extLst>
          </p:cNvPr>
          <p:cNvSpPr txBox="1"/>
          <p:nvPr/>
        </p:nvSpPr>
        <p:spPr>
          <a:xfrm>
            <a:off x="0" y="-25401"/>
            <a:ext cx="7357533"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Distribution of Netflix Content by Type :- </a:t>
            </a:r>
          </a:p>
        </p:txBody>
      </p:sp>
      <p:cxnSp>
        <p:nvCxnSpPr>
          <p:cNvPr id="4" name="Straight Connector 3">
            <a:extLst>
              <a:ext uri="{FF2B5EF4-FFF2-40B4-BE49-F238E27FC236}">
                <a16:creationId xmlns:a16="http://schemas.microsoft.com/office/drawing/2014/main" id="{A011367F-0B57-1C70-8113-356D4BCF319F}"/>
              </a:ext>
            </a:extLst>
          </p:cNvPr>
          <p:cNvCxnSpPr>
            <a:cxnSpLocks/>
          </p:cNvCxnSpPr>
          <p:nvPr/>
        </p:nvCxnSpPr>
        <p:spPr>
          <a:xfrm flipV="1">
            <a:off x="0" y="497819"/>
            <a:ext cx="6510867" cy="43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F2EE046-C566-3D2E-9F79-92B8EF684A67}"/>
              </a:ext>
            </a:extLst>
          </p:cNvPr>
          <p:cNvSpPr txBox="1"/>
          <p:nvPr/>
        </p:nvSpPr>
        <p:spPr>
          <a:xfrm>
            <a:off x="0" y="839670"/>
            <a:ext cx="10803467" cy="3527889"/>
          </a:xfrm>
          <a:prstGeom prst="rect">
            <a:avLst/>
          </a:prstGeom>
          <a:noFill/>
        </p:spPr>
        <p:txBody>
          <a:bodyPr wrap="square">
            <a:spAutoFit/>
          </a:bodyPr>
          <a:lstStyle/>
          <a:p>
            <a:pPr>
              <a:lnSpc>
                <a:spcPts val="1425"/>
              </a:lnSpc>
            </a:pPr>
            <a:r>
              <a:rPr lang="en-US" dirty="0">
                <a:solidFill>
                  <a:srgbClr val="C99CC6"/>
                </a:solidFill>
                <a:latin typeface="Courier New" panose="02070309020205020404" pitchFamily="49" charset="0"/>
              </a:rPr>
              <a:t>import</a:t>
            </a:r>
            <a:r>
              <a:rPr lang="en-US" dirty="0">
                <a:solidFill>
                  <a:srgbClr val="D4D4D4"/>
                </a:solidFill>
                <a:latin typeface="Courier New" panose="02070309020205020404" pitchFamily="49" charset="0"/>
              </a:rPr>
              <a:t> 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p>
          <a:p>
            <a:pPr>
              <a:lnSpc>
                <a:spcPts val="1425"/>
              </a:lnSpc>
              <a:buNone/>
            </a:pPr>
            <a:r>
              <a:rPr lang="en-US" dirty="0">
                <a:solidFill>
                  <a:srgbClr val="C99CC6"/>
                </a:solidFill>
                <a:latin typeface="Courier New" panose="02070309020205020404" pitchFamily="49" charset="0"/>
              </a:rPr>
              <a:t>import</a:t>
            </a:r>
            <a:r>
              <a:rPr lang="en-US" dirty="0">
                <a:solidFill>
                  <a:srgbClr val="D4D4D4"/>
                </a:solidFill>
                <a:latin typeface="Courier New" panose="02070309020205020404" pitchFamily="49" charset="0"/>
              </a:rPr>
              <a:t> </a:t>
            </a:r>
            <a:r>
              <a:rPr lang="en-US" dirty="0" err="1">
                <a:solidFill>
                  <a:srgbClr val="D4D4D4"/>
                </a:solidFill>
                <a:latin typeface="Courier New" panose="02070309020205020404" pitchFamily="49" charset="0"/>
              </a:rPr>
              <a:t>matplotlib.pyplot</a:t>
            </a:r>
            <a:r>
              <a:rPr lang="en-US" dirty="0">
                <a:solidFill>
                  <a:srgbClr val="D4D4D4"/>
                </a:solidFill>
                <a:latin typeface="Courier New" panose="02070309020205020404" pitchFamily="49" charset="0"/>
              </a:rPr>
              <a:t>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a:t>
            </a:r>
            <a:r>
              <a:rPr lang="en-US" dirty="0" err="1">
                <a:solidFill>
                  <a:srgbClr val="D4D4D4"/>
                </a:solidFill>
                <a:latin typeface="Courier New" panose="02070309020205020404" pitchFamily="49" charset="0"/>
              </a:rPr>
              <a:t>plt</a:t>
            </a:r>
            <a:endParaRPr lang="en-US" b="0" dirty="0">
              <a:solidFill>
                <a:srgbClr val="C99CC6"/>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endParaRPr lang="en-US" b="0" dirty="0">
              <a:solidFill>
                <a:srgbClr val="D4D4D4"/>
              </a:solidFill>
              <a:effectLst/>
              <a:latin typeface="Courier New" panose="02070309020205020404" pitchFamily="49" charset="0"/>
            </a:endParaRP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fig = </a:t>
            </a:r>
            <a:r>
              <a:rPr lang="en-US" b="0" dirty="0" err="1">
                <a:solidFill>
                  <a:srgbClr val="D4D4D4"/>
                </a:solidFill>
                <a:effectLst/>
                <a:latin typeface="Courier New" panose="02070309020205020404" pitchFamily="49" charset="0"/>
              </a:rPr>
              <a:t>px.pie</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names=</a:t>
            </a:r>
            <a:r>
              <a:rPr lang="en-US" b="0" dirty="0" err="1">
                <a:solidFill>
                  <a:srgbClr val="D4D4D4"/>
                </a:solidFill>
                <a:effectLst/>
                <a:latin typeface="Courier New" panose="02070309020205020404" pitchFamily="49" charset="0"/>
              </a:rPr>
              <a:t>netflix</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'type'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.index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values=</a:t>
            </a:r>
            <a:r>
              <a:rPr lang="en-US" b="0" dirty="0" err="1">
                <a:solidFill>
                  <a:srgbClr val="D4D4D4"/>
                </a:solidFill>
                <a:effectLst/>
                <a:latin typeface="Courier New" panose="02070309020205020404" pitchFamily="49" charset="0"/>
              </a:rPr>
              <a:t>netflix</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'type'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.values</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"Distribution of Type"</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hole=</a:t>
            </a:r>
            <a:r>
              <a:rPr lang="en-US" b="0" dirty="0">
                <a:solidFill>
                  <a:srgbClr val="B5CEA8"/>
                </a:solidFill>
                <a:effectLst/>
                <a:latin typeface="Courier New" panose="02070309020205020404" pitchFamily="49" charset="0"/>
              </a:rPr>
              <a:t>0.01</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fig.update_layout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width=</a:t>
            </a:r>
            <a:r>
              <a:rPr lang="en-US" b="0" dirty="0">
                <a:solidFill>
                  <a:srgbClr val="B5CEA8"/>
                </a:solidFill>
                <a:effectLst/>
                <a:latin typeface="Courier New" panose="02070309020205020404" pitchFamily="49" charset="0"/>
              </a:rPr>
              <a:t>800</a:t>
            </a:r>
            <a:r>
              <a:rPr lang="en-US" b="0" dirty="0">
                <a:solidFill>
                  <a:srgbClr val="DCDCDC"/>
                </a:solidFill>
                <a:effectLst/>
                <a:latin typeface="Courier New" panose="02070309020205020404" pitchFamily="49" charset="0"/>
              </a:rPr>
              <a:t>,</a:t>
            </a:r>
          </a:p>
          <a:p>
            <a:pPr>
              <a:lnSpc>
                <a:spcPts val="1425"/>
              </a:lnSpc>
              <a:buNone/>
            </a:pPr>
            <a:endParaRPr lang="en-US" dirty="0">
              <a:solidFill>
                <a:srgbClr val="DCDCDC"/>
              </a:solidFill>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height=</a:t>
            </a:r>
            <a:r>
              <a:rPr lang="en-US" b="0" dirty="0">
                <a:solidFill>
                  <a:srgbClr val="B5CEA8"/>
                </a:solidFill>
                <a:effectLst/>
                <a:latin typeface="Courier New" panose="02070309020205020404" pitchFamily="49" charset="0"/>
              </a:rPr>
              <a:t>600</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CDCDC"/>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title_font</a:t>
            </a:r>
            <a:r>
              <a:rPr lang="en-US" b="0" dirty="0">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dict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size=</a:t>
            </a:r>
            <a:r>
              <a:rPr lang="en-US" b="0" dirty="0">
                <a:solidFill>
                  <a:srgbClr val="B5CEA8"/>
                </a:solidFill>
                <a:effectLst/>
                <a:latin typeface="Courier New" panose="02070309020205020404" pitchFamily="49" charset="0"/>
              </a:rPr>
              <a:t>25</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CDCDC"/>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weight=</a:t>
            </a:r>
            <a:r>
              <a:rPr lang="en-US" b="0" dirty="0">
                <a:solidFill>
                  <a:srgbClr val="CE9178"/>
                </a:solidFill>
                <a:effectLst/>
                <a:latin typeface="Courier New" panose="02070309020205020404" pitchFamily="49" charset="0"/>
              </a:rPr>
              <a:t>"bold"</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pic>
        <p:nvPicPr>
          <p:cNvPr id="13" name="Picture 12">
            <a:extLst>
              <a:ext uri="{FF2B5EF4-FFF2-40B4-BE49-F238E27FC236}">
                <a16:creationId xmlns:a16="http://schemas.microsoft.com/office/drawing/2014/main" id="{5C11C5CC-BF29-33F9-7A4D-FEEE8004D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8020" y="2370671"/>
            <a:ext cx="7532980" cy="4639733"/>
          </a:xfrm>
          <a:prstGeom prst="rect">
            <a:avLst/>
          </a:prstGeom>
          <a:ln w="19050">
            <a:solidFill>
              <a:srgbClr val="FF0000"/>
            </a:solidFill>
          </a:ln>
        </p:spPr>
      </p:pic>
    </p:spTree>
    <p:extLst>
      <p:ext uri="{BB962C8B-B14F-4D97-AF65-F5344CB8AC3E}">
        <p14:creationId xmlns:p14="http://schemas.microsoft.com/office/powerpoint/2010/main" val="1329904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B9BBCF-0FF3-B5EB-90D8-F4031FD59E5E}"/>
              </a:ext>
            </a:extLst>
          </p:cNvPr>
          <p:cNvSpPr txBox="1"/>
          <p:nvPr/>
        </p:nvSpPr>
        <p:spPr>
          <a:xfrm>
            <a:off x="0" y="-74600"/>
            <a:ext cx="72644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Netflix Content Ratings — Count Analysis :-</a:t>
            </a:r>
          </a:p>
        </p:txBody>
      </p:sp>
      <p:cxnSp>
        <p:nvCxnSpPr>
          <p:cNvPr id="4" name="Straight Connector 3">
            <a:extLst>
              <a:ext uri="{FF2B5EF4-FFF2-40B4-BE49-F238E27FC236}">
                <a16:creationId xmlns:a16="http://schemas.microsoft.com/office/drawing/2014/main" id="{041E1876-6666-EAAD-CB5F-ACD861366D89}"/>
              </a:ext>
            </a:extLst>
          </p:cNvPr>
          <p:cNvCxnSpPr>
            <a:cxnSpLocks/>
          </p:cNvCxnSpPr>
          <p:nvPr/>
        </p:nvCxnSpPr>
        <p:spPr>
          <a:xfrm>
            <a:off x="0" y="406285"/>
            <a:ext cx="70104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0535121-B257-2712-43E6-BC1F12EDB6E7}"/>
              </a:ext>
            </a:extLst>
          </p:cNvPr>
          <p:cNvSpPr txBox="1"/>
          <p:nvPr/>
        </p:nvSpPr>
        <p:spPr>
          <a:xfrm>
            <a:off x="16933" y="889703"/>
            <a:ext cx="6722533" cy="1552989"/>
          </a:xfrm>
          <a:prstGeom prst="rect">
            <a:avLst/>
          </a:prstGeom>
          <a:noFill/>
        </p:spPr>
        <p:txBody>
          <a:bodyPr wrap="square">
            <a:spAutoFit/>
          </a:bodyPr>
          <a:lstStyle/>
          <a:p>
            <a:pPr>
              <a:lnSpc>
                <a:spcPts val="1425"/>
              </a:lnSpc>
            </a:pPr>
            <a:r>
              <a:rPr lang="en-US" dirty="0">
                <a:solidFill>
                  <a:srgbClr val="C99CC6"/>
                </a:solidFill>
                <a:latin typeface="Courier New" panose="02070309020205020404" pitchFamily="49" charset="0"/>
              </a:rPr>
              <a:t>import</a:t>
            </a:r>
            <a:r>
              <a:rPr lang="en-US" dirty="0">
                <a:solidFill>
                  <a:srgbClr val="D4D4D4"/>
                </a:solidFill>
                <a:latin typeface="Courier New" panose="02070309020205020404" pitchFamily="49" charset="0"/>
              </a:rPr>
              <a:t> 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matplotlib.pyplot</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plt</a:t>
            </a:r>
            <a:endParaRPr lang="en-US" b="0" dirty="0">
              <a:solidFill>
                <a:srgbClr val="D4D4D4"/>
              </a:solidFill>
              <a:effectLst/>
              <a:latin typeface="Courier New" panose="02070309020205020404" pitchFamily="49" charset="0"/>
            </a:endParaRPr>
          </a:p>
          <a:p>
            <a:pPr>
              <a:lnSpc>
                <a:spcPts val="1425"/>
              </a:lnSpc>
            </a:pPr>
            <a:r>
              <a:rPr lang="en-US" dirty="0">
                <a:solidFill>
                  <a:srgbClr val="C99CC6"/>
                </a:solidFill>
                <a:latin typeface="Courier New" panose="02070309020205020404" pitchFamily="49" charset="0"/>
              </a:rPr>
              <a:t>import</a:t>
            </a:r>
            <a:r>
              <a:rPr lang="en-US" dirty="0">
                <a:solidFill>
                  <a:srgbClr val="D4D4D4"/>
                </a:solidFill>
                <a:latin typeface="Courier New" panose="02070309020205020404" pitchFamily="49" charset="0"/>
              </a:rPr>
              <a:t> </a:t>
            </a:r>
            <a:r>
              <a:rPr lang="en-US" dirty="0" err="1">
                <a:solidFill>
                  <a:srgbClr val="D4D4D4"/>
                </a:solidFill>
                <a:latin typeface="Courier New" panose="02070309020205020404" pitchFamily="49" charset="0"/>
              </a:rPr>
              <a:t>plotly.express</a:t>
            </a:r>
            <a:r>
              <a:rPr lang="en-US" dirty="0">
                <a:solidFill>
                  <a:srgbClr val="D4D4D4"/>
                </a:solidFill>
                <a:latin typeface="Courier New" panose="02070309020205020404" pitchFamily="49" charset="0"/>
              </a:rPr>
              <a:t>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a:t>
            </a:r>
            <a:r>
              <a:rPr lang="en-US" dirty="0" err="1">
                <a:solidFill>
                  <a:srgbClr val="D4D4D4"/>
                </a:solidFill>
                <a:latin typeface="Courier New" panose="02070309020205020404" pitchFamily="49" charset="0"/>
              </a:rPr>
              <a:t>px</a:t>
            </a: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px.bar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'rating'</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.index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y=</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'rating'</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.values</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labels=</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x"</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"Rating"</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"y"</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"Count</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"Count of Ratings"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pic>
        <p:nvPicPr>
          <p:cNvPr id="10" name="Picture 9">
            <a:extLst>
              <a:ext uri="{FF2B5EF4-FFF2-40B4-BE49-F238E27FC236}">
                <a16:creationId xmlns:a16="http://schemas.microsoft.com/office/drawing/2014/main" id="{A747DAC9-380C-938F-96AE-2DD50E5A53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1" y="2537559"/>
            <a:ext cx="12022666" cy="4235771"/>
          </a:xfrm>
          <a:prstGeom prst="rect">
            <a:avLst/>
          </a:prstGeom>
          <a:ln w="19050">
            <a:solidFill>
              <a:srgbClr val="FF0000"/>
            </a:solidFill>
          </a:ln>
        </p:spPr>
      </p:pic>
    </p:spTree>
    <p:extLst>
      <p:ext uri="{BB962C8B-B14F-4D97-AF65-F5344CB8AC3E}">
        <p14:creationId xmlns:p14="http://schemas.microsoft.com/office/powerpoint/2010/main" val="435496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C4EF64-52F1-E8C6-E4C9-836454F0D84B}"/>
              </a:ext>
            </a:extLst>
          </p:cNvPr>
          <p:cNvSpPr txBox="1"/>
          <p:nvPr/>
        </p:nvSpPr>
        <p:spPr>
          <a:xfrm>
            <a:off x="0" y="991084"/>
            <a:ext cx="4614333" cy="4238340"/>
          </a:xfrm>
          <a:prstGeom prst="rect">
            <a:avLst/>
          </a:prstGeom>
          <a:noFill/>
        </p:spPr>
        <p:txBody>
          <a:bodyPr wrap="square">
            <a:spAutoFit/>
          </a:bodyPr>
          <a:lstStyle/>
          <a:p>
            <a:pPr>
              <a:lnSpc>
                <a:spcPts val="1425"/>
              </a:lnSpc>
            </a:pPr>
            <a:r>
              <a:rPr lang="en-US" sz="1600" dirty="0">
                <a:solidFill>
                  <a:srgbClr val="C99CC6"/>
                </a:solidFill>
                <a:latin typeface="Courier New" panose="02070309020205020404" pitchFamily="49" charset="0"/>
              </a:rPr>
              <a:t>import</a:t>
            </a:r>
            <a:r>
              <a:rPr lang="en-US" sz="1600" dirty="0">
                <a:solidFill>
                  <a:srgbClr val="D4D4D4"/>
                </a:solidFill>
                <a:latin typeface="Courier New" panose="02070309020205020404" pitchFamily="49" charset="0"/>
              </a:rPr>
              <a:t> pandas </a:t>
            </a:r>
            <a:r>
              <a:rPr lang="en-US" sz="1600" dirty="0">
                <a:solidFill>
                  <a:srgbClr val="C99CC6"/>
                </a:solidFill>
                <a:latin typeface="Courier New" panose="02070309020205020404" pitchFamily="49" charset="0"/>
              </a:rPr>
              <a:t>as</a:t>
            </a:r>
            <a:r>
              <a:rPr lang="en-US" sz="1600" dirty="0">
                <a:solidFill>
                  <a:srgbClr val="D4D4D4"/>
                </a:solidFill>
                <a:latin typeface="Courier New" panose="02070309020205020404" pitchFamily="49" charset="0"/>
              </a:rPr>
              <a:t> pd</a:t>
            </a:r>
          </a:p>
          <a:p>
            <a:pPr>
              <a:lnSpc>
                <a:spcPts val="1425"/>
              </a:lnSpc>
              <a:buNone/>
            </a:pPr>
            <a:r>
              <a:rPr lang="en-US" sz="1600" dirty="0">
                <a:solidFill>
                  <a:srgbClr val="C99CC6"/>
                </a:solidFill>
                <a:latin typeface="Courier New" panose="02070309020205020404" pitchFamily="49" charset="0"/>
              </a:rPr>
              <a:t>import</a:t>
            </a:r>
            <a:r>
              <a:rPr lang="en-US" sz="1600" dirty="0">
                <a:solidFill>
                  <a:srgbClr val="D4D4D4"/>
                </a:solidFill>
                <a:latin typeface="Courier New" panose="02070309020205020404" pitchFamily="49" charset="0"/>
              </a:rPr>
              <a:t> </a:t>
            </a:r>
            <a:r>
              <a:rPr lang="en-US" sz="1600" dirty="0" err="1">
                <a:solidFill>
                  <a:srgbClr val="D4D4D4"/>
                </a:solidFill>
                <a:latin typeface="Courier New" panose="02070309020205020404" pitchFamily="49" charset="0"/>
              </a:rPr>
              <a:t>matplotlib.pyplot</a:t>
            </a:r>
            <a:r>
              <a:rPr lang="en-US" sz="1600" dirty="0">
                <a:solidFill>
                  <a:srgbClr val="D4D4D4"/>
                </a:solidFill>
                <a:latin typeface="Courier New" panose="02070309020205020404" pitchFamily="49" charset="0"/>
              </a:rPr>
              <a:t> </a:t>
            </a:r>
            <a:r>
              <a:rPr lang="en-US" sz="1600" dirty="0">
                <a:solidFill>
                  <a:srgbClr val="C99CC6"/>
                </a:solidFill>
                <a:latin typeface="Courier New" panose="02070309020205020404" pitchFamily="49" charset="0"/>
              </a:rPr>
              <a:t>as</a:t>
            </a:r>
            <a:r>
              <a:rPr lang="en-US" sz="1600" dirty="0">
                <a:solidFill>
                  <a:srgbClr val="D4D4D4"/>
                </a:solidFill>
                <a:latin typeface="Courier New" panose="02070309020205020404" pitchFamily="49" charset="0"/>
              </a:rPr>
              <a:t> </a:t>
            </a:r>
            <a:r>
              <a:rPr lang="en-US" sz="1600" dirty="0" err="1">
                <a:solidFill>
                  <a:srgbClr val="D4D4D4"/>
                </a:solidFill>
                <a:latin typeface="Courier New" panose="02070309020205020404" pitchFamily="49" charset="0"/>
              </a:rPr>
              <a:t>plt</a:t>
            </a:r>
            <a:endParaRPr lang="en-US" sz="1600" b="0" dirty="0">
              <a:solidFill>
                <a:srgbClr val="C99CC6"/>
              </a:solidFill>
              <a:effectLst/>
              <a:latin typeface="Courier New" panose="02070309020205020404" pitchFamily="49" charset="0"/>
            </a:endParaRPr>
          </a:p>
          <a:p>
            <a:pPr>
              <a:lnSpc>
                <a:spcPts val="1425"/>
              </a:lnSpc>
              <a:buNone/>
            </a:pPr>
            <a:r>
              <a:rPr lang="en-US" sz="1600" b="0" dirty="0">
                <a:solidFill>
                  <a:srgbClr val="C99CC6"/>
                </a:solidFill>
                <a:effectLst/>
                <a:latin typeface="Courier New" panose="02070309020205020404" pitchFamily="49" charset="0"/>
              </a:rPr>
              <a:t>import</a:t>
            </a:r>
            <a:r>
              <a:rPr lang="en-US" sz="1600" b="0" dirty="0">
                <a:solidFill>
                  <a:srgbClr val="D4D4D4"/>
                </a:solidFill>
                <a:effectLst/>
                <a:latin typeface="Courier New" panose="02070309020205020404" pitchFamily="49" charset="0"/>
              </a:rPr>
              <a:t> </a:t>
            </a:r>
            <a:r>
              <a:rPr lang="en-US" sz="1600" b="0" dirty="0" err="1">
                <a:solidFill>
                  <a:srgbClr val="D4D4D4"/>
                </a:solidFill>
                <a:effectLst/>
                <a:latin typeface="Courier New" panose="02070309020205020404" pitchFamily="49" charset="0"/>
              </a:rPr>
              <a:t>plotly.express</a:t>
            </a:r>
            <a:r>
              <a:rPr lang="en-US" sz="1600" b="0" dirty="0">
                <a:solidFill>
                  <a:srgbClr val="D4D4D4"/>
                </a:solidFill>
                <a:effectLst/>
                <a:latin typeface="Courier New" panose="02070309020205020404" pitchFamily="49" charset="0"/>
              </a:rPr>
              <a:t> </a:t>
            </a:r>
            <a:r>
              <a:rPr lang="en-US" sz="1600" b="0" dirty="0">
                <a:solidFill>
                  <a:srgbClr val="C99CC6"/>
                </a:solidFill>
                <a:effectLst/>
                <a:latin typeface="Courier New" panose="02070309020205020404" pitchFamily="49" charset="0"/>
              </a:rPr>
              <a:t>as</a:t>
            </a:r>
            <a:r>
              <a:rPr lang="en-US" sz="1600" b="0" dirty="0">
                <a:solidFill>
                  <a:srgbClr val="D4D4D4"/>
                </a:solidFill>
                <a:effectLst/>
                <a:latin typeface="Courier New" panose="02070309020205020404" pitchFamily="49" charset="0"/>
              </a:rPr>
              <a:t> </a:t>
            </a:r>
            <a:r>
              <a:rPr lang="en-US" sz="1600" b="0" dirty="0" err="1">
                <a:solidFill>
                  <a:srgbClr val="D4D4D4"/>
                </a:solidFill>
                <a:effectLst/>
                <a:latin typeface="Courier New" panose="02070309020205020404" pitchFamily="49" charset="0"/>
              </a:rPr>
              <a:t>px</a:t>
            </a:r>
            <a:endParaRPr lang="en-US" sz="1600" b="0" dirty="0">
              <a:solidFill>
                <a:srgbClr val="D4D4D4"/>
              </a:solidFill>
              <a:effectLst/>
              <a:latin typeface="Courier New" panose="02070309020205020404" pitchFamily="49" charset="0"/>
            </a:endParaRPr>
          </a:p>
          <a:p>
            <a:pPr>
              <a:lnSpc>
                <a:spcPts val="1425"/>
              </a:lnSpc>
              <a:buNone/>
            </a:pPr>
            <a:endParaRPr lang="en-US" sz="1600" b="0" dirty="0">
              <a:solidFill>
                <a:srgbClr val="D4D4D4"/>
              </a:solidFill>
              <a:effectLst/>
              <a:latin typeface="Courier New" panose="02070309020205020404" pitchFamily="49" charset="0"/>
            </a:endParaRPr>
          </a:p>
          <a:p>
            <a:pPr>
              <a:lnSpc>
                <a:spcPts val="1425"/>
              </a:lnSpc>
              <a:buNone/>
            </a:pPr>
            <a:r>
              <a:rPr lang="en-US" sz="1600" b="0" dirty="0">
                <a:solidFill>
                  <a:srgbClr val="D4D4D4"/>
                </a:solidFill>
                <a:effectLst/>
                <a:latin typeface="Courier New" panose="02070309020205020404" pitchFamily="49" charset="0"/>
              </a:rPr>
              <a:t>top = </a:t>
            </a:r>
            <a:r>
              <a:rPr lang="en-US" sz="1600" b="0" dirty="0" err="1">
                <a:solidFill>
                  <a:srgbClr val="D4D4D4"/>
                </a:solidFill>
                <a:effectLst/>
                <a:latin typeface="Courier New" panose="02070309020205020404" pitchFamily="49" charset="0"/>
              </a:rPr>
              <a:t>netflix</a:t>
            </a:r>
            <a:r>
              <a:rPr lang="en-US" sz="1600" b="0" dirty="0">
                <a:solidFill>
                  <a:srgbClr val="DCDCDC"/>
                </a:solidFill>
                <a:effectLst/>
                <a:latin typeface="Courier New" panose="02070309020205020404" pitchFamily="49" charset="0"/>
              </a:rPr>
              <a:t>[</a:t>
            </a:r>
            <a:r>
              <a:rPr lang="en-US" sz="1600" b="0" dirty="0" err="1">
                <a:solidFill>
                  <a:srgbClr val="D4D4D4"/>
                </a:solidFill>
                <a:effectLst/>
                <a:latin typeface="Courier New" panose="02070309020205020404" pitchFamily="49" charset="0"/>
              </a:rPr>
              <a:t>netflix</a:t>
            </a:r>
            <a:r>
              <a:rPr lang="en-US" sz="1600" b="0" dirty="0">
                <a:solidFill>
                  <a:srgbClr val="DCDCDC"/>
                </a:solidFill>
                <a:effectLst/>
                <a:latin typeface="Courier New" panose="02070309020205020404" pitchFamily="49" charset="0"/>
              </a:rPr>
              <a:t>[</a:t>
            </a:r>
            <a:r>
              <a:rPr lang="en-US" sz="1600" b="0" dirty="0">
                <a:solidFill>
                  <a:srgbClr val="CE9178"/>
                </a:solidFill>
                <a:effectLst/>
                <a:latin typeface="Courier New" panose="02070309020205020404" pitchFamily="49" charset="0"/>
              </a:rPr>
              <a:t>'type'</a:t>
            </a:r>
            <a:r>
              <a:rPr lang="en-US" sz="1600" b="0" dirty="0">
                <a:solidFill>
                  <a:srgbClr val="DCDCDC"/>
                </a:solidFill>
                <a:effectLst/>
                <a:latin typeface="Courier New" panose="02070309020205020404" pitchFamily="49" charset="0"/>
              </a:rPr>
              <a:t>]</a:t>
            </a:r>
            <a:r>
              <a:rPr lang="en-US" sz="1600" b="0" dirty="0">
                <a:solidFill>
                  <a:srgbClr val="D4D4D4"/>
                </a:solidFill>
                <a:effectLst/>
                <a:latin typeface="Courier New" panose="02070309020205020404" pitchFamily="49" charset="0"/>
              </a:rPr>
              <a:t> == </a:t>
            </a:r>
            <a:r>
              <a:rPr lang="en-US" sz="1600" b="0" dirty="0">
                <a:solidFill>
                  <a:srgbClr val="CE9178"/>
                </a:solidFill>
                <a:effectLst/>
                <a:latin typeface="Courier New" panose="02070309020205020404" pitchFamily="49" charset="0"/>
              </a:rPr>
              <a:t>'Movie'</a:t>
            </a:r>
            <a:r>
              <a:rPr lang="en-US" sz="1600" b="0" dirty="0">
                <a:solidFill>
                  <a:srgbClr val="DCDCDC"/>
                </a:solidFill>
                <a:effectLst/>
                <a:latin typeface="Courier New" panose="02070309020205020404" pitchFamily="49" charset="0"/>
              </a:rPr>
              <a:t>][</a:t>
            </a:r>
            <a:r>
              <a:rPr lang="en-US" sz="1600" b="0" dirty="0">
                <a:solidFill>
                  <a:srgbClr val="CE9178"/>
                </a:solidFill>
                <a:effectLst/>
                <a:latin typeface="Courier New" panose="02070309020205020404" pitchFamily="49" charset="0"/>
              </a:rPr>
              <a:t>'title'</a:t>
            </a:r>
            <a:r>
              <a:rPr lang="en-US" sz="1600" b="0" dirty="0">
                <a:solidFill>
                  <a:srgbClr val="DCDCDC"/>
                </a:solidFill>
                <a:effectLst/>
                <a:latin typeface="Courier New" panose="02070309020205020404" pitchFamily="49" charset="0"/>
              </a:rPr>
              <a:t>]</a:t>
            </a:r>
            <a:r>
              <a:rPr lang="en-US" sz="1600" b="0" dirty="0">
                <a:solidFill>
                  <a:srgbClr val="D4D4D4"/>
                </a:solidFill>
                <a:effectLst/>
                <a:latin typeface="Courier New" panose="02070309020205020404" pitchFamily="49" charset="0"/>
              </a:rPr>
              <a:t>.</a:t>
            </a:r>
            <a:r>
              <a:rPr lang="en-US" sz="1600" b="0" dirty="0" err="1">
                <a:solidFill>
                  <a:srgbClr val="D4D4D4"/>
                </a:solidFill>
                <a:effectLst/>
                <a:latin typeface="Courier New" panose="02070309020205020404" pitchFamily="49" charset="0"/>
              </a:rPr>
              <a:t>value_counts</a:t>
            </a:r>
            <a:r>
              <a:rPr lang="en-US" sz="1600" b="0" dirty="0">
                <a:solidFill>
                  <a:srgbClr val="DCDCDC"/>
                </a:solidFill>
                <a:effectLst/>
                <a:latin typeface="Courier New" panose="02070309020205020404" pitchFamily="49" charset="0"/>
              </a:rPr>
              <a:t>()</a:t>
            </a:r>
          </a:p>
          <a:p>
            <a:pPr>
              <a:lnSpc>
                <a:spcPts val="1425"/>
              </a:lnSpc>
              <a:buNone/>
            </a:pPr>
            <a:r>
              <a:rPr lang="en-US" sz="1600" b="0" dirty="0">
                <a:solidFill>
                  <a:srgbClr val="D4D4D4"/>
                </a:solidFill>
                <a:effectLst/>
                <a:latin typeface="Courier New" panose="02070309020205020404" pitchFamily="49" charset="0"/>
              </a:rPr>
              <a:t>.head</a:t>
            </a:r>
            <a:r>
              <a:rPr lang="en-US" sz="1600" b="0" dirty="0">
                <a:solidFill>
                  <a:srgbClr val="DCDCDC"/>
                </a:solidFill>
                <a:effectLst/>
                <a:latin typeface="Courier New" panose="02070309020205020404" pitchFamily="49" charset="0"/>
              </a:rPr>
              <a:t>(</a:t>
            </a:r>
            <a:r>
              <a:rPr lang="en-US" sz="1600" b="0" dirty="0">
                <a:solidFill>
                  <a:srgbClr val="B5CEA8"/>
                </a:solidFill>
                <a:effectLst/>
                <a:latin typeface="Courier New" panose="02070309020205020404" pitchFamily="49" charset="0"/>
              </a:rPr>
              <a:t>10</a:t>
            </a:r>
            <a:r>
              <a:rPr lang="en-US" sz="1600" b="0" dirty="0">
                <a:solidFill>
                  <a:srgbClr val="DCDCDC"/>
                </a:solidFill>
                <a:effectLst/>
                <a:latin typeface="Courier New" panose="02070309020205020404" pitchFamily="49" charset="0"/>
              </a:rPr>
              <a:t>)</a:t>
            </a:r>
            <a:endParaRPr lang="en-US" sz="1600" b="0" dirty="0">
              <a:solidFill>
                <a:srgbClr val="D4D4D4"/>
              </a:solidFill>
              <a:effectLst/>
              <a:latin typeface="Courier New" panose="02070309020205020404" pitchFamily="49" charset="0"/>
            </a:endParaRPr>
          </a:p>
          <a:p>
            <a:pPr>
              <a:lnSpc>
                <a:spcPts val="1425"/>
              </a:lnSpc>
              <a:buNone/>
            </a:pPr>
            <a:endParaRPr lang="en-US" sz="1600" b="0" dirty="0">
              <a:solidFill>
                <a:srgbClr val="D4D4D4"/>
              </a:solidFill>
              <a:effectLst/>
              <a:latin typeface="Courier New" panose="02070309020205020404" pitchFamily="49" charset="0"/>
            </a:endParaRPr>
          </a:p>
          <a:p>
            <a:pPr>
              <a:lnSpc>
                <a:spcPts val="1425"/>
              </a:lnSpc>
              <a:buNone/>
            </a:pPr>
            <a:r>
              <a:rPr lang="en-US" sz="1600" b="0" dirty="0">
                <a:solidFill>
                  <a:srgbClr val="D4D4D4"/>
                </a:solidFill>
                <a:effectLst/>
                <a:latin typeface="Courier New" panose="02070309020205020404" pitchFamily="49" charset="0"/>
              </a:rPr>
              <a:t>fig = </a:t>
            </a:r>
            <a:r>
              <a:rPr lang="en-US" sz="1600" b="0" dirty="0" err="1">
                <a:solidFill>
                  <a:srgbClr val="D4D4D4"/>
                </a:solidFill>
                <a:effectLst/>
                <a:latin typeface="Courier New" panose="02070309020205020404" pitchFamily="49" charset="0"/>
              </a:rPr>
              <a:t>px.bar</a:t>
            </a:r>
            <a:r>
              <a:rPr lang="en-US" sz="1600" b="0" dirty="0">
                <a:solidFill>
                  <a:srgbClr val="DCDCDC"/>
                </a:solidFill>
                <a:effectLst/>
                <a:latin typeface="Courier New" panose="02070309020205020404" pitchFamily="49" charset="0"/>
              </a:rPr>
              <a:t>(</a:t>
            </a:r>
            <a:endParaRPr lang="en-US" sz="1600" b="0" dirty="0">
              <a:solidFill>
                <a:srgbClr val="D4D4D4"/>
              </a:solidFill>
              <a:effectLst/>
              <a:latin typeface="Courier New" panose="02070309020205020404" pitchFamily="49" charset="0"/>
            </a:endParaRPr>
          </a:p>
          <a:p>
            <a:pPr>
              <a:lnSpc>
                <a:spcPts val="1425"/>
              </a:lnSpc>
              <a:buNone/>
            </a:pPr>
            <a:r>
              <a:rPr lang="en-US" sz="1600" b="0" dirty="0">
                <a:solidFill>
                  <a:srgbClr val="D4D4D4"/>
                </a:solidFill>
                <a:effectLst/>
                <a:latin typeface="Courier New" panose="02070309020205020404" pitchFamily="49" charset="0"/>
              </a:rPr>
              <a:t>    x=</a:t>
            </a:r>
            <a:r>
              <a:rPr lang="en-US" sz="1600" b="0" dirty="0" err="1">
                <a:solidFill>
                  <a:srgbClr val="D4D4D4"/>
                </a:solidFill>
                <a:effectLst/>
                <a:latin typeface="Courier New" panose="02070309020205020404" pitchFamily="49" charset="0"/>
              </a:rPr>
              <a:t>top.index</a:t>
            </a:r>
            <a:r>
              <a:rPr lang="en-US" sz="1600" b="0" dirty="0">
                <a:solidFill>
                  <a:srgbClr val="DCDCDC"/>
                </a:solidFill>
                <a:effectLst/>
                <a:latin typeface="Courier New" panose="02070309020205020404" pitchFamily="49" charset="0"/>
              </a:rPr>
              <a:t>,</a:t>
            </a:r>
            <a:endParaRPr lang="en-US" sz="1600" b="0" dirty="0">
              <a:solidFill>
                <a:srgbClr val="D4D4D4"/>
              </a:solidFill>
              <a:effectLst/>
              <a:latin typeface="Courier New" panose="02070309020205020404" pitchFamily="49" charset="0"/>
            </a:endParaRPr>
          </a:p>
          <a:p>
            <a:pPr>
              <a:lnSpc>
                <a:spcPts val="1425"/>
              </a:lnSpc>
              <a:buNone/>
            </a:pPr>
            <a:r>
              <a:rPr lang="en-US" sz="1600" b="0" dirty="0">
                <a:solidFill>
                  <a:srgbClr val="D4D4D4"/>
                </a:solidFill>
                <a:effectLst/>
                <a:latin typeface="Courier New" panose="02070309020205020404" pitchFamily="49" charset="0"/>
              </a:rPr>
              <a:t>    y=</a:t>
            </a:r>
            <a:r>
              <a:rPr lang="en-US" sz="1600" b="0" dirty="0" err="1">
                <a:solidFill>
                  <a:srgbClr val="D4D4D4"/>
                </a:solidFill>
                <a:effectLst/>
                <a:latin typeface="Courier New" panose="02070309020205020404" pitchFamily="49" charset="0"/>
              </a:rPr>
              <a:t>top.values</a:t>
            </a:r>
            <a:r>
              <a:rPr lang="en-US" sz="1600" b="0" dirty="0">
                <a:solidFill>
                  <a:srgbClr val="DCDCDC"/>
                </a:solidFill>
                <a:effectLst/>
                <a:latin typeface="Courier New" panose="02070309020205020404" pitchFamily="49" charset="0"/>
              </a:rPr>
              <a:t>,</a:t>
            </a:r>
            <a:endParaRPr lang="en-US" sz="1600" b="0" dirty="0">
              <a:solidFill>
                <a:srgbClr val="D4D4D4"/>
              </a:solidFill>
              <a:effectLst/>
              <a:latin typeface="Courier New" panose="02070309020205020404" pitchFamily="49" charset="0"/>
            </a:endParaRPr>
          </a:p>
          <a:p>
            <a:pPr>
              <a:lnSpc>
                <a:spcPts val="1425"/>
              </a:lnSpc>
              <a:buNone/>
            </a:pPr>
            <a:r>
              <a:rPr lang="en-US" sz="1600" b="0" dirty="0">
                <a:solidFill>
                  <a:srgbClr val="D4D4D4"/>
                </a:solidFill>
                <a:effectLst/>
                <a:latin typeface="Courier New" panose="02070309020205020404" pitchFamily="49" charset="0"/>
              </a:rPr>
              <a:t>    title=</a:t>
            </a:r>
            <a:r>
              <a:rPr lang="en-US" sz="1600" b="0" dirty="0">
                <a:solidFill>
                  <a:srgbClr val="CE9178"/>
                </a:solidFill>
                <a:effectLst/>
                <a:latin typeface="Courier New" panose="02070309020205020404" pitchFamily="49" charset="0"/>
              </a:rPr>
              <a:t>"Top 10 Movies"</a:t>
            </a:r>
            <a:r>
              <a:rPr lang="en-US" sz="1600" b="0" dirty="0">
                <a:solidFill>
                  <a:srgbClr val="DCDCDC"/>
                </a:solidFill>
                <a:effectLst/>
                <a:latin typeface="Courier New" panose="02070309020205020404" pitchFamily="49" charset="0"/>
              </a:rPr>
              <a:t>,</a:t>
            </a:r>
            <a:endParaRPr lang="en-US" sz="1600" b="0" dirty="0">
              <a:solidFill>
                <a:srgbClr val="D4D4D4"/>
              </a:solidFill>
              <a:effectLst/>
              <a:latin typeface="Courier New" panose="02070309020205020404" pitchFamily="49" charset="0"/>
            </a:endParaRPr>
          </a:p>
          <a:p>
            <a:pPr>
              <a:lnSpc>
                <a:spcPts val="1425"/>
              </a:lnSpc>
              <a:buNone/>
            </a:pPr>
            <a:r>
              <a:rPr lang="en-US" sz="1600" b="0" dirty="0">
                <a:solidFill>
                  <a:srgbClr val="D4D4D4"/>
                </a:solidFill>
                <a:effectLst/>
                <a:latin typeface="Courier New" panose="02070309020205020404" pitchFamily="49" charset="0"/>
              </a:rPr>
              <a:t>    labels=</a:t>
            </a:r>
            <a:r>
              <a:rPr lang="en-US" sz="1600" b="0" dirty="0">
                <a:solidFill>
                  <a:srgbClr val="DCDCDC"/>
                </a:solidFill>
                <a:effectLst/>
                <a:latin typeface="Courier New" panose="02070309020205020404" pitchFamily="49" charset="0"/>
              </a:rPr>
              <a:t>{</a:t>
            </a:r>
            <a:r>
              <a:rPr lang="en-US" sz="1600" b="0" dirty="0">
                <a:solidFill>
                  <a:srgbClr val="CE9178"/>
                </a:solidFill>
                <a:effectLst/>
                <a:latin typeface="Courier New" panose="02070309020205020404" pitchFamily="49" charset="0"/>
              </a:rPr>
              <a:t>"x"</a:t>
            </a:r>
            <a:r>
              <a:rPr lang="en-US" sz="1600" b="0" dirty="0">
                <a:solidFill>
                  <a:srgbClr val="DCDCDC"/>
                </a:solidFill>
                <a:effectLst/>
                <a:latin typeface="Courier New" panose="02070309020205020404" pitchFamily="49" charset="0"/>
              </a:rPr>
              <a:t>:</a:t>
            </a:r>
            <a:r>
              <a:rPr lang="en-US" sz="1600" b="0" dirty="0">
                <a:solidFill>
                  <a:srgbClr val="D4D4D4"/>
                </a:solidFill>
                <a:effectLst/>
                <a:latin typeface="Courier New" panose="02070309020205020404" pitchFamily="49" charset="0"/>
              </a:rPr>
              <a:t> </a:t>
            </a:r>
            <a:r>
              <a:rPr lang="en-US" sz="1600" b="0" dirty="0">
                <a:solidFill>
                  <a:srgbClr val="CE9178"/>
                </a:solidFill>
                <a:effectLst/>
                <a:latin typeface="Courier New" panose="02070309020205020404" pitchFamily="49" charset="0"/>
              </a:rPr>
              <a:t>"Movie Title"</a:t>
            </a:r>
            <a:r>
              <a:rPr lang="en-US" sz="1600" b="0" dirty="0">
                <a:solidFill>
                  <a:srgbClr val="DCDCDC"/>
                </a:solidFill>
                <a:effectLst/>
                <a:latin typeface="Courier New" panose="02070309020205020404" pitchFamily="49" charset="0"/>
              </a:rPr>
              <a:t>,</a:t>
            </a:r>
            <a:r>
              <a:rPr lang="en-US" sz="1600" b="0" dirty="0">
                <a:solidFill>
                  <a:srgbClr val="D4D4D4"/>
                </a:solidFill>
                <a:effectLst/>
                <a:latin typeface="Courier New" panose="02070309020205020404" pitchFamily="49" charset="0"/>
              </a:rPr>
              <a:t> </a:t>
            </a:r>
          </a:p>
          <a:p>
            <a:pPr>
              <a:lnSpc>
                <a:spcPts val="1425"/>
              </a:lnSpc>
              <a:buNone/>
            </a:pPr>
            <a:r>
              <a:rPr lang="en-US" sz="1600" b="0" dirty="0">
                <a:solidFill>
                  <a:srgbClr val="CE9178"/>
                </a:solidFill>
                <a:effectLst/>
                <a:latin typeface="Courier New" panose="02070309020205020404" pitchFamily="49" charset="0"/>
              </a:rPr>
              <a:t>"y"</a:t>
            </a:r>
            <a:r>
              <a:rPr lang="en-US" sz="1600" b="0" dirty="0">
                <a:solidFill>
                  <a:srgbClr val="DCDCDC"/>
                </a:solidFill>
                <a:effectLst/>
                <a:latin typeface="Courier New" panose="02070309020205020404" pitchFamily="49" charset="0"/>
              </a:rPr>
              <a:t>:</a:t>
            </a:r>
            <a:r>
              <a:rPr lang="en-US" sz="1600" b="0" dirty="0">
                <a:solidFill>
                  <a:srgbClr val="D4D4D4"/>
                </a:solidFill>
                <a:effectLst/>
                <a:latin typeface="Courier New" panose="02070309020205020404" pitchFamily="49" charset="0"/>
              </a:rPr>
              <a:t> </a:t>
            </a:r>
            <a:r>
              <a:rPr lang="en-US" sz="1600" b="0" dirty="0">
                <a:solidFill>
                  <a:srgbClr val="CE9178"/>
                </a:solidFill>
                <a:effectLst/>
                <a:latin typeface="Courier New" panose="02070309020205020404" pitchFamily="49" charset="0"/>
              </a:rPr>
              <a:t>"Count"</a:t>
            </a:r>
            <a:r>
              <a:rPr lang="en-US" sz="1600" b="0" dirty="0">
                <a:solidFill>
                  <a:srgbClr val="DCDCDC"/>
                </a:solidFill>
                <a:effectLst/>
                <a:latin typeface="Courier New" panose="02070309020205020404" pitchFamily="49" charset="0"/>
              </a:rPr>
              <a:t>})</a:t>
            </a:r>
            <a:endParaRPr lang="en-US" sz="1600" b="0" dirty="0">
              <a:solidFill>
                <a:srgbClr val="D4D4D4"/>
              </a:solidFill>
              <a:effectLst/>
              <a:latin typeface="Courier New" panose="02070309020205020404" pitchFamily="49" charset="0"/>
            </a:endParaRPr>
          </a:p>
          <a:p>
            <a:pPr>
              <a:lnSpc>
                <a:spcPts val="1425"/>
              </a:lnSpc>
              <a:buNone/>
            </a:pPr>
            <a:br>
              <a:rPr lang="en-US" sz="1600" b="0" dirty="0">
                <a:solidFill>
                  <a:srgbClr val="D4D4D4"/>
                </a:solidFill>
                <a:effectLst/>
                <a:latin typeface="Courier New" panose="02070309020205020404" pitchFamily="49" charset="0"/>
              </a:rPr>
            </a:br>
            <a:endParaRPr lang="en-US" sz="1600" b="0" dirty="0">
              <a:solidFill>
                <a:srgbClr val="D4D4D4"/>
              </a:solidFill>
              <a:effectLst/>
              <a:latin typeface="Courier New" panose="02070309020205020404" pitchFamily="49" charset="0"/>
            </a:endParaRPr>
          </a:p>
          <a:p>
            <a:pPr>
              <a:lnSpc>
                <a:spcPts val="1425"/>
              </a:lnSpc>
              <a:buNone/>
            </a:pPr>
            <a:r>
              <a:rPr lang="en-US" sz="1600" b="0" dirty="0" err="1">
                <a:solidFill>
                  <a:srgbClr val="D4D4D4"/>
                </a:solidFill>
                <a:effectLst/>
                <a:latin typeface="Courier New" panose="02070309020205020404" pitchFamily="49" charset="0"/>
              </a:rPr>
              <a:t>fig.update_layout</a:t>
            </a:r>
            <a:r>
              <a:rPr lang="en-US" sz="1600" b="0" dirty="0">
                <a:solidFill>
                  <a:srgbClr val="DCDCDC"/>
                </a:solidFill>
                <a:effectLst/>
                <a:latin typeface="Courier New" panose="02070309020205020404" pitchFamily="49" charset="0"/>
              </a:rPr>
              <a:t>(</a:t>
            </a:r>
            <a:r>
              <a:rPr lang="en-US" sz="1600" b="0" dirty="0" err="1">
                <a:solidFill>
                  <a:srgbClr val="D4D4D4"/>
                </a:solidFill>
                <a:effectLst/>
                <a:latin typeface="Courier New" panose="02070309020205020404" pitchFamily="49" charset="0"/>
              </a:rPr>
              <a:t>title_font</a:t>
            </a:r>
            <a:r>
              <a:rPr lang="en-US" sz="1600" b="0" dirty="0">
                <a:solidFill>
                  <a:srgbClr val="D4D4D4"/>
                </a:solidFill>
                <a:effectLst/>
                <a:latin typeface="Courier New" panose="02070309020205020404" pitchFamily="49" charset="0"/>
              </a:rPr>
              <a:t>=</a:t>
            </a:r>
            <a:r>
              <a:rPr lang="en-US" sz="1600" b="0" dirty="0" err="1">
                <a:solidFill>
                  <a:srgbClr val="4EC9B0"/>
                </a:solidFill>
                <a:effectLst/>
                <a:latin typeface="Courier New" panose="02070309020205020404" pitchFamily="49" charset="0"/>
              </a:rPr>
              <a:t>dict</a:t>
            </a:r>
            <a:endParaRPr lang="en-US" sz="1600" b="0" dirty="0">
              <a:solidFill>
                <a:srgbClr val="4EC9B0"/>
              </a:solidFill>
              <a:effectLst/>
              <a:latin typeface="Courier New" panose="02070309020205020404" pitchFamily="49" charset="0"/>
            </a:endParaRPr>
          </a:p>
          <a:p>
            <a:pPr>
              <a:lnSpc>
                <a:spcPts val="1425"/>
              </a:lnSpc>
              <a:buNone/>
            </a:pPr>
            <a:r>
              <a:rPr lang="en-US" sz="1600" b="0" dirty="0">
                <a:solidFill>
                  <a:srgbClr val="DCDCDC"/>
                </a:solidFill>
                <a:effectLst/>
                <a:latin typeface="Courier New" panose="02070309020205020404" pitchFamily="49" charset="0"/>
              </a:rPr>
              <a:t>	(</a:t>
            </a:r>
            <a:r>
              <a:rPr lang="en-US" sz="1600" b="0" dirty="0">
                <a:solidFill>
                  <a:srgbClr val="D4D4D4"/>
                </a:solidFill>
                <a:effectLst/>
                <a:latin typeface="Courier New" panose="02070309020205020404" pitchFamily="49" charset="0"/>
              </a:rPr>
              <a:t>size=</a:t>
            </a:r>
            <a:r>
              <a:rPr lang="en-US" sz="1600" b="0" dirty="0">
                <a:solidFill>
                  <a:srgbClr val="B5CEA8"/>
                </a:solidFill>
                <a:effectLst/>
                <a:latin typeface="Courier New" panose="02070309020205020404" pitchFamily="49" charset="0"/>
              </a:rPr>
              <a:t>24</a:t>
            </a:r>
            <a:r>
              <a:rPr lang="en-US" sz="1600" b="0" dirty="0">
                <a:solidFill>
                  <a:srgbClr val="DCDCDC"/>
                </a:solidFill>
                <a:effectLst/>
                <a:latin typeface="Courier New" panose="02070309020205020404" pitchFamily="49" charset="0"/>
              </a:rPr>
              <a:t>,</a:t>
            </a:r>
            <a:r>
              <a:rPr lang="en-US" sz="1600" b="0" dirty="0">
                <a:solidFill>
                  <a:srgbClr val="D4D4D4"/>
                </a:solidFill>
                <a:effectLst/>
                <a:latin typeface="Courier New" panose="02070309020205020404" pitchFamily="49" charset="0"/>
              </a:rPr>
              <a:t> 						weight=</a:t>
            </a:r>
            <a:r>
              <a:rPr lang="en-US" sz="1600" b="0" dirty="0">
                <a:solidFill>
                  <a:srgbClr val="CE9178"/>
                </a:solidFill>
                <a:effectLst/>
                <a:latin typeface="Courier New" panose="02070309020205020404" pitchFamily="49" charset="0"/>
              </a:rPr>
              <a:t>"bold"</a:t>
            </a:r>
            <a:r>
              <a:rPr lang="en-US" sz="1600" b="0" dirty="0">
                <a:solidFill>
                  <a:srgbClr val="DCDCDC"/>
                </a:solidFill>
                <a:effectLst/>
                <a:latin typeface="Courier New" panose="02070309020205020404" pitchFamily="49" charset="0"/>
              </a:rPr>
              <a:t>))</a:t>
            </a:r>
          </a:p>
          <a:p>
            <a:pPr>
              <a:lnSpc>
                <a:spcPts val="1425"/>
              </a:lnSpc>
              <a:buNone/>
            </a:pPr>
            <a:endParaRPr lang="en-US" sz="1600" b="0" dirty="0">
              <a:solidFill>
                <a:srgbClr val="D4D4D4"/>
              </a:solidFill>
              <a:effectLst/>
              <a:latin typeface="Courier New" panose="02070309020205020404" pitchFamily="49" charset="0"/>
            </a:endParaRPr>
          </a:p>
          <a:p>
            <a:pPr>
              <a:lnSpc>
                <a:spcPts val="1425"/>
              </a:lnSpc>
              <a:buNone/>
            </a:pPr>
            <a:r>
              <a:rPr lang="en-US" sz="1600" b="0" dirty="0" err="1">
                <a:solidFill>
                  <a:srgbClr val="D4D4D4"/>
                </a:solidFill>
                <a:effectLst/>
                <a:latin typeface="Courier New" panose="02070309020205020404" pitchFamily="49" charset="0"/>
              </a:rPr>
              <a:t>fig.update_xaxes</a:t>
            </a:r>
            <a:r>
              <a:rPr lang="en-US" sz="1600" b="0" dirty="0">
                <a:solidFill>
                  <a:srgbClr val="DCDCDC"/>
                </a:solidFill>
                <a:effectLst/>
                <a:latin typeface="Courier New" panose="02070309020205020404" pitchFamily="49" charset="0"/>
              </a:rPr>
              <a:t>(</a:t>
            </a:r>
            <a:r>
              <a:rPr lang="en-US" sz="1600" b="0" dirty="0" err="1">
                <a:solidFill>
                  <a:srgbClr val="D4D4D4"/>
                </a:solidFill>
                <a:effectLst/>
                <a:latin typeface="Courier New" panose="02070309020205020404" pitchFamily="49" charset="0"/>
              </a:rPr>
              <a:t>tickangle</a:t>
            </a:r>
            <a:r>
              <a:rPr lang="en-US" sz="1600" b="0" dirty="0">
                <a:solidFill>
                  <a:srgbClr val="D4D4D4"/>
                </a:solidFill>
                <a:effectLst/>
                <a:latin typeface="Courier New" panose="02070309020205020404" pitchFamily="49" charset="0"/>
              </a:rPr>
              <a:t>=</a:t>
            </a:r>
            <a:r>
              <a:rPr lang="en-US" sz="1600" b="0" dirty="0">
                <a:solidFill>
                  <a:srgbClr val="B5CEA8"/>
                </a:solidFill>
                <a:effectLst/>
                <a:latin typeface="Courier New" panose="02070309020205020404" pitchFamily="49" charset="0"/>
              </a:rPr>
              <a:t>-45</a:t>
            </a:r>
            <a:r>
              <a:rPr lang="en-US" sz="1600" b="0" dirty="0">
                <a:solidFill>
                  <a:srgbClr val="DCDCDC"/>
                </a:solidFill>
                <a:effectLst/>
                <a:latin typeface="Courier New" panose="02070309020205020404" pitchFamily="49" charset="0"/>
              </a:rPr>
              <a:t>)</a:t>
            </a:r>
          </a:p>
          <a:p>
            <a:pPr>
              <a:lnSpc>
                <a:spcPts val="1425"/>
              </a:lnSpc>
              <a:buNone/>
            </a:pPr>
            <a:endParaRPr lang="en-US" sz="1600" b="0" dirty="0">
              <a:solidFill>
                <a:srgbClr val="D4D4D4"/>
              </a:solidFill>
              <a:effectLst/>
              <a:latin typeface="Courier New" panose="02070309020205020404" pitchFamily="49" charset="0"/>
            </a:endParaRPr>
          </a:p>
          <a:p>
            <a:pPr>
              <a:lnSpc>
                <a:spcPts val="1425"/>
              </a:lnSpc>
              <a:buNone/>
            </a:pPr>
            <a:r>
              <a:rPr lang="en-US" sz="1600" b="0" dirty="0" err="1">
                <a:solidFill>
                  <a:srgbClr val="D4D4D4"/>
                </a:solidFill>
                <a:effectLst/>
                <a:latin typeface="Courier New" panose="02070309020205020404" pitchFamily="49" charset="0"/>
              </a:rPr>
              <a:t>fig.show</a:t>
            </a:r>
            <a:r>
              <a:rPr lang="en-US" sz="1600" b="0" dirty="0">
                <a:solidFill>
                  <a:srgbClr val="DCDCDC"/>
                </a:solidFill>
                <a:effectLst/>
                <a:latin typeface="Courier New" panose="02070309020205020404" pitchFamily="49" charset="0"/>
              </a:rPr>
              <a:t>()</a:t>
            </a:r>
            <a:endParaRPr lang="en-US" sz="1600" b="0" dirty="0">
              <a:solidFill>
                <a:srgbClr val="D4D4D4"/>
              </a:solidFill>
              <a:effectLst/>
              <a:latin typeface="Courier New" panose="02070309020205020404" pitchFamily="49" charset="0"/>
            </a:endParaRPr>
          </a:p>
        </p:txBody>
      </p:sp>
      <p:sp>
        <p:nvSpPr>
          <p:cNvPr id="5" name="TextBox 4">
            <a:extLst>
              <a:ext uri="{FF2B5EF4-FFF2-40B4-BE49-F238E27FC236}">
                <a16:creationId xmlns:a16="http://schemas.microsoft.com/office/drawing/2014/main" id="{32D8734A-B331-F228-6E00-5BA68E1458EB}"/>
              </a:ext>
            </a:extLst>
          </p:cNvPr>
          <p:cNvSpPr txBox="1"/>
          <p:nvPr/>
        </p:nvSpPr>
        <p:spPr>
          <a:xfrm>
            <a:off x="-8467" y="-25401"/>
            <a:ext cx="8716433" cy="523220"/>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Top 10 Most Listed Movies — Frequency Analysis :- </a:t>
            </a:r>
          </a:p>
        </p:txBody>
      </p:sp>
      <p:cxnSp>
        <p:nvCxnSpPr>
          <p:cNvPr id="6" name="Straight Connector 5">
            <a:extLst>
              <a:ext uri="{FF2B5EF4-FFF2-40B4-BE49-F238E27FC236}">
                <a16:creationId xmlns:a16="http://schemas.microsoft.com/office/drawing/2014/main" id="{402D45F7-5821-69B1-89AE-9113F90B742C}"/>
              </a:ext>
            </a:extLst>
          </p:cNvPr>
          <p:cNvCxnSpPr>
            <a:cxnSpLocks/>
          </p:cNvCxnSpPr>
          <p:nvPr/>
        </p:nvCxnSpPr>
        <p:spPr>
          <a:xfrm>
            <a:off x="-8467" y="497819"/>
            <a:ext cx="82042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FD843CF-A710-8C7F-E124-41A858227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7414" y="1798108"/>
            <a:ext cx="7842251" cy="5000625"/>
          </a:xfrm>
          <a:prstGeom prst="rect">
            <a:avLst/>
          </a:prstGeom>
          <a:ln w="19050">
            <a:solidFill>
              <a:srgbClr val="FF0000"/>
            </a:solidFill>
          </a:ln>
        </p:spPr>
      </p:pic>
    </p:spTree>
    <p:extLst>
      <p:ext uri="{BB962C8B-B14F-4D97-AF65-F5344CB8AC3E}">
        <p14:creationId xmlns:p14="http://schemas.microsoft.com/office/powerpoint/2010/main" val="522307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3938E3-31F6-A7AF-699C-8F61CF8A1947}"/>
              </a:ext>
            </a:extLst>
          </p:cNvPr>
          <p:cNvSpPr txBox="1"/>
          <p:nvPr/>
        </p:nvSpPr>
        <p:spPr>
          <a:xfrm>
            <a:off x="0" y="1184084"/>
            <a:ext cx="4893733" cy="4605107"/>
          </a:xfrm>
          <a:prstGeom prst="rect">
            <a:avLst/>
          </a:prstGeom>
          <a:noFill/>
        </p:spPr>
        <p:txBody>
          <a:bodyPr wrap="square">
            <a:spAutoFit/>
          </a:bodyPr>
          <a:lstStyle/>
          <a:p>
            <a:pPr>
              <a:lnSpc>
                <a:spcPts val="1425"/>
              </a:lnSpc>
            </a:pPr>
            <a:r>
              <a:rPr lang="en-US" dirty="0">
                <a:solidFill>
                  <a:srgbClr val="C99CC6"/>
                </a:solidFill>
                <a:latin typeface="Courier New" panose="02070309020205020404" pitchFamily="49" charset="0"/>
              </a:rPr>
              <a:t>import</a:t>
            </a:r>
            <a:r>
              <a:rPr lang="en-US" dirty="0">
                <a:solidFill>
                  <a:srgbClr val="D4D4D4"/>
                </a:solidFill>
                <a:latin typeface="Courier New" panose="02070309020205020404" pitchFamily="49" charset="0"/>
              </a:rPr>
              <a:t> 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p>
          <a:p>
            <a:pPr>
              <a:lnSpc>
                <a:spcPts val="1425"/>
              </a:lnSpc>
              <a:buNone/>
            </a:pPr>
            <a:r>
              <a:rPr lang="en-US" dirty="0">
                <a:solidFill>
                  <a:srgbClr val="C99CC6"/>
                </a:solidFill>
                <a:latin typeface="Courier New" panose="02070309020205020404" pitchFamily="49" charset="0"/>
              </a:rPr>
              <a:t>import</a:t>
            </a:r>
            <a:r>
              <a:rPr lang="en-US" dirty="0">
                <a:solidFill>
                  <a:srgbClr val="D4D4D4"/>
                </a:solidFill>
                <a:latin typeface="Courier New" panose="02070309020205020404" pitchFamily="49" charset="0"/>
              </a:rPr>
              <a:t> </a:t>
            </a:r>
            <a:r>
              <a:rPr lang="en-US" dirty="0" err="1">
                <a:solidFill>
                  <a:srgbClr val="D4D4D4"/>
                </a:solidFill>
                <a:latin typeface="Courier New" panose="02070309020205020404" pitchFamily="49" charset="0"/>
              </a:rPr>
              <a:t>matplotlib.pyplot</a:t>
            </a:r>
            <a:r>
              <a:rPr lang="en-US" dirty="0">
                <a:solidFill>
                  <a:srgbClr val="D4D4D4"/>
                </a:solidFill>
                <a:latin typeface="Courier New" panose="02070309020205020404" pitchFamily="49" charset="0"/>
              </a:rPr>
              <a:t>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a:t>
            </a:r>
            <a:r>
              <a:rPr lang="en-US" dirty="0" err="1">
                <a:solidFill>
                  <a:srgbClr val="D4D4D4"/>
                </a:solidFill>
                <a:latin typeface="Courier New" panose="02070309020205020404" pitchFamily="49" charset="0"/>
              </a:rPr>
              <a:t>plt</a:t>
            </a:r>
            <a:endParaRPr lang="en-US" b="0" dirty="0">
              <a:solidFill>
                <a:srgbClr val="C99CC6"/>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endParaRPr lang="en-US" b="0" dirty="0">
              <a:solidFill>
                <a:srgbClr val="D4D4D4"/>
              </a:solidFill>
              <a:effectLst/>
              <a:latin typeface="Courier New" panose="02070309020205020404" pitchFamily="49" charset="0"/>
            </a:endParaRP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top = </a:t>
            </a:r>
            <a:r>
              <a:rPr lang="en-US" b="0" dirty="0" err="1">
                <a:solidFill>
                  <a:srgbClr val="D4D4D4"/>
                </a:solidFill>
                <a:effectLst/>
                <a:latin typeface="Courier New" panose="02070309020205020404" pitchFamily="49" charset="0"/>
              </a:rPr>
              <a:t>netflix</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netflix</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'type’</a:t>
            </a:r>
            <a:r>
              <a:rPr lang="en-US" b="0" dirty="0">
                <a:solidFill>
                  <a:srgbClr val="DCDCDC"/>
                </a:solidFill>
                <a:effectLst/>
                <a:latin typeface="Courier New" panose="02070309020205020404" pitchFamily="49" charset="0"/>
              </a:rPr>
              <a:t>]</a:t>
            </a:r>
          </a:p>
          <a:p>
            <a:pPr>
              <a:lnSpc>
                <a:spcPts val="1425"/>
              </a:lnSpc>
              <a:buNone/>
            </a:pPr>
            <a:r>
              <a:rPr lang="en-US" dirty="0">
                <a:solidFill>
                  <a:srgbClr val="DCDCDC"/>
                </a:solidFill>
                <a:latin typeface="Courier New" panose="02070309020205020404" pitchFamily="49" charset="0"/>
              </a:rPr>
              <a:t>	</a:t>
            </a:r>
            <a:r>
              <a:rPr lang="en-US" b="0" dirty="0">
                <a:solidFill>
                  <a:srgbClr val="D4D4D4"/>
                </a:solidFill>
                <a:effectLst/>
                <a:latin typeface="Courier New" panose="02070309020205020404" pitchFamily="49" charset="0"/>
              </a:rPr>
              <a:t> == </a:t>
            </a:r>
            <a:r>
              <a:rPr lang="en-US" b="0" dirty="0">
                <a:solidFill>
                  <a:srgbClr val="CE9178"/>
                </a:solidFill>
                <a:effectLst/>
                <a:latin typeface="Courier New" panose="02070309020205020404" pitchFamily="49" charset="0"/>
              </a:rPr>
              <a:t>‘TV Show’</a:t>
            </a:r>
            <a:r>
              <a:rPr lang="en-US" dirty="0">
                <a:solidFill>
                  <a:srgbClr val="DCDCDC"/>
                </a:solidFill>
                <a:latin typeface="Courier New" panose="02070309020205020404" pitchFamily="49" charset="0"/>
              </a:rPr>
              <a:t>]</a:t>
            </a:r>
            <a:r>
              <a:rPr lang="en-US" b="0" dirty="0">
                <a:solidFill>
                  <a:srgbClr val="CE9178"/>
                </a:solidFill>
                <a:effectLst/>
                <a:latin typeface="Courier New" panose="02070309020205020404" pitchFamily="49" charset="0"/>
              </a:rPr>
              <a:t> </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'title'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.head</a:t>
            </a:r>
            <a:r>
              <a:rPr lang="en-US" b="0" dirty="0">
                <a:solidFill>
                  <a:srgbClr val="DCDCDC"/>
                </a:solidFill>
                <a:effectLst/>
                <a:latin typeface="Courier New" panose="02070309020205020404" pitchFamily="49" charset="0"/>
              </a:rPr>
              <a:t>(</a:t>
            </a:r>
            <a:r>
              <a:rPr lang="en-US" b="0" dirty="0">
                <a:solidFill>
                  <a:srgbClr val="B5CEA8"/>
                </a:solidFill>
                <a:effectLst/>
                <a:latin typeface="Courier New" panose="02070309020205020404" pitchFamily="49" charset="0"/>
              </a:rPr>
              <a:t>10</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fig = </a:t>
            </a:r>
            <a:r>
              <a:rPr lang="en-US" b="0" dirty="0" err="1">
                <a:solidFill>
                  <a:srgbClr val="D4D4D4"/>
                </a:solidFill>
                <a:effectLst/>
                <a:latin typeface="Courier New" panose="02070309020205020404" pitchFamily="49" charset="0"/>
              </a:rPr>
              <a:t>px.bar</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x=</a:t>
            </a:r>
            <a:r>
              <a:rPr lang="en-US" b="0" dirty="0" err="1">
                <a:solidFill>
                  <a:srgbClr val="D4D4D4"/>
                </a:solidFill>
                <a:effectLst/>
                <a:latin typeface="Courier New" panose="02070309020205020404" pitchFamily="49" charset="0"/>
              </a:rPr>
              <a:t>top.index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y=</a:t>
            </a:r>
            <a:r>
              <a:rPr lang="en-US" b="0" dirty="0" err="1">
                <a:solidFill>
                  <a:srgbClr val="D4D4D4"/>
                </a:solidFill>
                <a:effectLst/>
                <a:latin typeface="Courier New" panose="02070309020205020404" pitchFamily="49" charset="0"/>
              </a:rPr>
              <a:t>top.values</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"Top 10  Tv 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labels=</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"x"</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"TV Show Title"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"y"</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fig.update_layout</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title_font</a:t>
            </a:r>
            <a:r>
              <a:rPr lang="en-US" b="0" dirty="0">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dict</a:t>
            </a:r>
            <a:endParaRPr lang="en-US" b="0" dirty="0">
              <a:solidFill>
                <a:srgbClr val="4EC9B0"/>
              </a:solidFill>
              <a:effectLst/>
              <a:latin typeface="Courier New" panose="02070309020205020404" pitchFamily="49" charset="0"/>
            </a:endParaRPr>
          </a:p>
          <a:p>
            <a:pPr>
              <a:lnSpc>
                <a:spcPts val="1425"/>
              </a:lnSpc>
              <a:buNone/>
            </a:pP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size=</a:t>
            </a:r>
            <a:r>
              <a:rPr lang="en-US" b="0" dirty="0">
                <a:solidFill>
                  <a:srgbClr val="B5CEA8"/>
                </a:solidFill>
                <a:effectLst/>
                <a:latin typeface="Courier New" panose="02070309020205020404" pitchFamily="49" charset="0"/>
              </a:rPr>
              <a:t>24</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weight=</a:t>
            </a:r>
            <a:r>
              <a:rPr lang="en-US" b="0" dirty="0">
                <a:solidFill>
                  <a:srgbClr val="CE9178"/>
                </a:solidFill>
                <a:effectLst/>
                <a:latin typeface="Courier New" panose="02070309020205020404" pitchFamily="49" charset="0"/>
              </a:rPr>
              <a:t>"bold"</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fig.update_xaxes</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tickangle</a:t>
            </a:r>
            <a:r>
              <a:rPr lang="en-US" b="0" dirty="0">
                <a:solidFill>
                  <a:srgbClr val="D4D4D4"/>
                </a:solidFill>
                <a:effectLst/>
                <a:latin typeface="Courier New" panose="02070309020205020404" pitchFamily="49" charset="0"/>
              </a:rPr>
              <a:t>=</a:t>
            </a:r>
            <a:r>
              <a:rPr lang="en-US" b="0" dirty="0">
                <a:solidFill>
                  <a:srgbClr val="B5CEA8"/>
                </a:solidFill>
                <a:effectLst/>
                <a:latin typeface="Courier New" panose="02070309020205020404" pitchFamily="49" charset="0"/>
              </a:rPr>
              <a:t>-45</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cxnSp>
        <p:nvCxnSpPr>
          <p:cNvPr id="4" name="Straight Connector 3">
            <a:extLst>
              <a:ext uri="{FF2B5EF4-FFF2-40B4-BE49-F238E27FC236}">
                <a16:creationId xmlns:a16="http://schemas.microsoft.com/office/drawing/2014/main" id="{02C708A8-1A79-0266-81BE-F9C1C1DB4CA2}"/>
              </a:ext>
            </a:extLst>
          </p:cNvPr>
          <p:cNvCxnSpPr>
            <a:cxnSpLocks/>
          </p:cNvCxnSpPr>
          <p:nvPr/>
        </p:nvCxnSpPr>
        <p:spPr>
          <a:xfrm>
            <a:off x="-8467" y="497819"/>
            <a:ext cx="82042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13E953D-EBFC-0BCF-6283-DDACF3589503}"/>
              </a:ext>
            </a:extLst>
          </p:cNvPr>
          <p:cNvSpPr txBox="1"/>
          <p:nvPr/>
        </p:nvSpPr>
        <p:spPr>
          <a:xfrm>
            <a:off x="-82556" y="-33865"/>
            <a:ext cx="8786283" cy="523220"/>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Top 10 Most Listed TV Shows — Frequency Analysis :- </a:t>
            </a:r>
          </a:p>
        </p:txBody>
      </p:sp>
      <p:pic>
        <p:nvPicPr>
          <p:cNvPr id="8" name="Picture 7">
            <a:extLst>
              <a:ext uri="{FF2B5EF4-FFF2-40B4-BE49-F238E27FC236}">
                <a16:creationId xmlns:a16="http://schemas.microsoft.com/office/drawing/2014/main" id="{C717C512-65B6-5A4E-CAE2-A77ADBD40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3921" y="1805414"/>
            <a:ext cx="7515498" cy="5000625"/>
          </a:xfrm>
          <a:prstGeom prst="rect">
            <a:avLst/>
          </a:prstGeom>
          <a:ln w="19050">
            <a:solidFill>
              <a:srgbClr val="FF0000"/>
            </a:solidFill>
          </a:ln>
        </p:spPr>
      </p:pic>
    </p:spTree>
    <p:extLst>
      <p:ext uri="{BB962C8B-B14F-4D97-AF65-F5344CB8AC3E}">
        <p14:creationId xmlns:p14="http://schemas.microsoft.com/office/powerpoint/2010/main" val="3218456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0ADAA1-1C0A-B5F1-9197-D2E5A0FA779A}"/>
              </a:ext>
            </a:extLst>
          </p:cNvPr>
          <p:cNvSpPr txBox="1"/>
          <p:nvPr/>
        </p:nvSpPr>
        <p:spPr>
          <a:xfrm>
            <a:off x="-55158" y="0"/>
            <a:ext cx="800608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Top 10 Actors on Netflix — Frequency Analysis :-</a:t>
            </a:r>
          </a:p>
        </p:txBody>
      </p:sp>
      <p:sp>
        <p:nvSpPr>
          <p:cNvPr id="9" name="TextBox 8">
            <a:extLst>
              <a:ext uri="{FF2B5EF4-FFF2-40B4-BE49-F238E27FC236}">
                <a16:creationId xmlns:a16="http://schemas.microsoft.com/office/drawing/2014/main" id="{02A1E8B6-9A1F-8C7A-6603-3F5266B65D5E}"/>
              </a:ext>
            </a:extLst>
          </p:cNvPr>
          <p:cNvSpPr txBox="1"/>
          <p:nvPr/>
        </p:nvSpPr>
        <p:spPr>
          <a:xfrm>
            <a:off x="4876800" y="1326832"/>
            <a:ext cx="7286660" cy="5498892"/>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19050">
            <a:solidFill>
              <a:srgbClr val="FF0000"/>
            </a:solidFill>
          </a:ln>
        </p:spPr>
        <p:txBody>
          <a:bodyPr wrap="square" rtlCol="0">
            <a:spAutoFit/>
          </a:bodyPr>
          <a:lstStyle/>
          <a:p>
            <a:endParaRPr lang="en-US" dirty="0"/>
          </a:p>
        </p:txBody>
      </p:sp>
      <p:sp>
        <p:nvSpPr>
          <p:cNvPr id="3" name="TextBox 2">
            <a:extLst>
              <a:ext uri="{FF2B5EF4-FFF2-40B4-BE49-F238E27FC236}">
                <a16:creationId xmlns:a16="http://schemas.microsoft.com/office/drawing/2014/main" id="{666B77E1-0B70-DAC2-45B2-103BED5C84AB}"/>
              </a:ext>
            </a:extLst>
          </p:cNvPr>
          <p:cNvSpPr txBox="1"/>
          <p:nvPr/>
        </p:nvSpPr>
        <p:spPr>
          <a:xfrm>
            <a:off x="1" y="958649"/>
            <a:ext cx="5069840" cy="4246034"/>
          </a:xfrm>
          <a:prstGeom prst="rect">
            <a:avLst/>
          </a:prstGeom>
          <a:noFill/>
        </p:spPr>
        <p:txBody>
          <a:bodyPr wrap="square">
            <a:spAutoFit/>
          </a:bodyPr>
          <a:lstStyle/>
          <a:p>
            <a:pPr>
              <a:lnSpc>
                <a:spcPts val="1425"/>
              </a:lnSpc>
            </a:pPr>
            <a:r>
              <a:rPr lang="en-US" dirty="0">
                <a:solidFill>
                  <a:srgbClr val="C99CC6"/>
                </a:solidFill>
                <a:latin typeface="Courier New" panose="02070309020205020404" pitchFamily="49" charset="0"/>
              </a:rPr>
              <a:t>import</a:t>
            </a:r>
            <a:r>
              <a:rPr lang="en-US" dirty="0">
                <a:solidFill>
                  <a:srgbClr val="D4D4D4"/>
                </a:solidFill>
                <a:latin typeface="Courier New" panose="02070309020205020404" pitchFamily="49" charset="0"/>
              </a:rPr>
              <a:t> 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endParaRPr lang="en-US" b="0" dirty="0">
              <a:solidFill>
                <a:srgbClr val="C99CC6"/>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matplotlib.pyplot</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actors = </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'cast'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a:solidFill>
                  <a:srgbClr val="CE9178"/>
                </a:solidFill>
                <a:effectLst/>
                <a:latin typeface="Courier New" panose="02070309020205020404" pitchFamily="49" charset="0"/>
              </a:rPr>
              <a:t>'Not Specified'</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'cast'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dropna</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str</a:t>
            </a:r>
            <a:r>
              <a:rPr lang="en-US" b="0" dirty="0" err="1">
                <a:solidFill>
                  <a:srgbClr val="D4D4D4"/>
                </a:solidFill>
                <a:effectLst/>
                <a:latin typeface="Courier New" panose="02070309020205020404" pitchFamily="49" charset="0"/>
              </a:rPr>
              <a:t>.split</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 '</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.explode</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top_actors</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actors.value_counts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.head</a:t>
            </a:r>
            <a:r>
              <a:rPr lang="en-US" b="0" dirty="0">
                <a:solidFill>
                  <a:srgbClr val="DCDCDC"/>
                </a:solidFill>
                <a:effectLst/>
                <a:latin typeface="Courier New" panose="02070309020205020404" pitchFamily="49" charset="0"/>
              </a:rPr>
              <a:t>(</a:t>
            </a:r>
            <a:r>
              <a:rPr lang="en-US" b="0" dirty="0">
                <a:solidFill>
                  <a:srgbClr val="B5CEA8"/>
                </a:solidFill>
                <a:effectLst/>
                <a:latin typeface="Courier New" panose="02070309020205020404" pitchFamily="49" charset="0"/>
              </a:rPr>
              <a:t>10</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reset_index</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top_actors.columns</a:t>
            </a:r>
            <a:r>
              <a:rPr lang="en-US" b="0" dirty="0">
                <a:solidFill>
                  <a:srgbClr val="D4D4D4"/>
                </a:solidFill>
                <a:effectLst/>
                <a:latin typeface="Courier New" panose="02070309020205020404" pitchFamily="49" charset="0"/>
              </a:rPr>
              <a:t> = </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Actor'</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'Count</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fig = </a:t>
            </a:r>
            <a:r>
              <a:rPr lang="en-US" b="0" dirty="0" err="1">
                <a:solidFill>
                  <a:srgbClr val="D4D4D4"/>
                </a:solidFill>
                <a:effectLst/>
                <a:latin typeface="Courier New" panose="02070309020205020404" pitchFamily="49" charset="0"/>
              </a:rPr>
              <a:t>px.bar</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top_actors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x=</a:t>
            </a:r>
            <a:r>
              <a:rPr lang="en-US" b="0" dirty="0">
                <a:solidFill>
                  <a:srgbClr val="CE9178"/>
                </a:solidFill>
                <a:effectLst/>
                <a:latin typeface="Courier New" panose="02070309020205020404" pitchFamily="49" charset="0"/>
              </a:rPr>
              <a:t>'Actor'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y=</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"Top 10 Actors on Netflix "</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fig.update_xaxes</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tickangle</a:t>
            </a:r>
            <a:r>
              <a:rPr lang="en-US" b="0" dirty="0">
                <a:solidFill>
                  <a:srgbClr val="D4D4D4"/>
                </a:solidFill>
                <a:effectLst/>
                <a:latin typeface="Courier New" panose="02070309020205020404" pitchFamily="49" charset="0"/>
              </a:rPr>
              <a:t>=</a:t>
            </a:r>
            <a:r>
              <a:rPr lang="en-US" b="0" dirty="0">
                <a:solidFill>
                  <a:srgbClr val="B5CEA8"/>
                </a:solidFill>
                <a:effectLst/>
                <a:latin typeface="Courier New" panose="02070309020205020404" pitchFamily="49" charset="0"/>
              </a:rPr>
              <a:t>-40</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cxnSp>
        <p:nvCxnSpPr>
          <p:cNvPr id="4" name="Straight Connector 3">
            <a:extLst>
              <a:ext uri="{FF2B5EF4-FFF2-40B4-BE49-F238E27FC236}">
                <a16:creationId xmlns:a16="http://schemas.microsoft.com/office/drawing/2014/main" id="{DF44748D-B55B-F27E-3F5E-D842806F984D}"/>
              </a:ext>
            </a:extLst>
          </p:cNvPr>
          <p:cNvCxnSpPr>
            <a:cxnSpLocks/>
          </p:cNvCxnSpPr>
          <p:nvPr/>
        </p:nvCxnSpPr>
        <p:spPr>
          <a:xfrm flipV="1">
            <a:off x="-8467" y="435429"/>
            <a:ext cx="7463004" cy="6239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784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124E16-F24F-3510-1279-2FAE60821140}"/>
              </a:ext>
            </a:extLst>
          </p:cNvPr>
          <p:cNvSpPr txBox="1"/>
          <p:nvPr/>
        </p:nvSpPr>
        <p:spPr>
          <a:xfrm>
            <a:off x="-81280" y="0"/>
            <a:ext cx="97536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Top 10 Netflix Title-Producing Countries — Count Analysis  :-</a:t>
            </a:r>
          </a:p>
        </p:txBody>
      </p:sp>
      <p:cxnSp>
        <p:nvCxnSpPr>
          <p:cNvPr id="4" name="Straight Connector 3">
            <a:extLst>
              <a:ext uri="{FF2B5EF4-FFF2-40B4-BE49-F238E27FC236}">
                <a16:creationId xmlns:a16="http://schemas.microsoft.com/office/drawing/2014/main" id="{F0D6278B-EAD7-EF13-6A4A-D068145E52D0}"/>
              </a:ext>
            </a:extLst>
          </p:cNvPr>
          <p:cNvCxnSpPr>
            <a:cxnSpLocks/>
          </p:cNvCxnSpPr>
          <p:nvPr/>
        </p:nvCxnSpPr>
        <p:spPr>
          <a:xfrm>
            <a:off x="-8467" y="497819"/>
            <a:ext cx="958934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381B721-B6F3-1DF0-22D0-032BD838B275}"/>
              </a:ext>
            </a:extLst>
          </p:cNvPr>
          <p:cNvSpPr txBox="1"/>
          <p:nvPr/>
        </p:nvSpPr>
        <p:spPr>
          <a:xfrm>
            <a:off x="0" y="1575287"/>
            <a:ext cx="4439920" cy="4964179"/>
          </a:xfrm>
          <a:prstGeom prst="rect">
            <a:avLst/>
          </a:prstGeom>
          <a:noFill/>
        </p:spPr>
        <p:txBody>
          <a:bodyPr wrap="square">
            <a:spAutoFit/>
          </a:bodyPr>
          <a:lstStyle/>
          <a:p>
            <a:pPr>
              <a:lnSpc>
                <a:spcPts val="1425"/>
              </a:lnSpc>
            </a:pPr>
            <a:r>
              <a:rPr lang="en-US" dirty="0">
                <a:solidFill>
                  <a:srgbClr val="C99CC6"/>
                </a:solidFill>
                <a:latin typeface="Courier New" panose="02070309020205020404" pitchFamily="49" charset="0"/>
              </a:rPr>
              <a:t>import </a:t>
            </a:r>
            <a:r>
              <a:rPr lang="en-US" dirty="0">
                <a:solidFill>
                  <a:srgbClr val="D4D4D4"/>
                </a:solidFill>
                <a:latin typeface="Courier New" panose="02070309020205020404" pitchFamily="49" charset="0"/>
              </a:rPr>
              <a:t>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endParaRPr lang="en-US" b="0" dirty="0">
              <a:solidFill>
                <a:srgbClr val="C99CC6"/>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matplotlib.pyplot</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top = </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'country'</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a:solidFill>
                  <a:srgbClr val="CE9178"/>
                </a:solidFill>
                <a:effectLst/>
                <a:latin typeface="Courier New" panose="02070309020205020404" pitchFamily="49" charset="0"/>
              </a:rPr>
              <a:t>'Not Specified'</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'country’</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.head</a:t>
            </a:r>
            <a:r>
              <a:rPr lang="en-US" b="0" dirty="0">
                <a:solidFill>
                  <a:srgbClr val="DCDCDC"/>
                </a:solidFill>
                <a:effectLst/>
                <a:latin typeface="Courier New" panose="02070309020205020404" pitchFamily="49" charset="0"/>
              </a:rPr>
              <a:t>(</a:t>
            </a:r>
            <a:r>
              <a:rPr lang="en-US" b="0" dirty="0">
                <a:solidFill>
                  <a:srgbClr val="B5CEA8"/>
                </a:solidFill>
                <a:effectLst/>
                <a:latin typeface="Courier New" panose="02070309020205020404" pitchFamily="49" charset="0"/>
              </a:rPr>
              <a:t>10</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reset_index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top.columns</a:t>
            </a:r>
            <a:r>
              <a:rPr lang="en-US" b="0" dirty="0">
                <a:solidFill>
                  <a:srgbClr val="D4D4D4"/>
                </a:solidFill>
                <a:effectLst/>
                <a:latin typeface="Courier New" panose="02070309020205020404" pitchFamily="49" charset="0"/>
              </a:rPr>
              <a:t> = </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'country'</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fig = </a:t>
            </a:r>
            <a:r>
              <a:rPr lang="en-US" b="0" dirty="0" err="1">
                <a:solidFill>
                  <a:srgbClr val="D4D4D4"/>
                </a:solidFill>
                <a:effectLst/>
                <a:latin typeface="Courier New" panose="02070309020205020404" pitchFamily="49" charset="0"/>
              </a:rPr>
              <a:t>px.bar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top</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x=</a:t>
            </a:r>
            <a:r>
              <a:rPr lang="en-US" b="0" dirty="0">
                <a:solidFill>
                  <a:srgbClr val="CE9178"/>
                </a:solidFill>
                <a:effectLst/>
                <a:latin typeface="Courier New" panose="02070309020205020404" pitchFamily="49" charset="0"/>
              </a:rPr>
              <a:t>'country'</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y=</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"Top 10 Netflix Title Producing Countries"</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labels=</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country'</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'Country'</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'count'</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'Count</a:t>
            </a:r>
            <a:r>
              <a:rPr lang="en-US" b="0" dirty="0">
                <a:solidFill>
                  <a:srgbClr val="CE9178"/>
                </a:solidFill>
                <a:effectLst/>
                <a:latin typeface="Courier New" panose="02070309020205020404" pitchFamily="49" charset="0"/>
              </a:rPr>
              <a:t> of Titles’</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fig.update_layout</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title_font</a:t>
            </a:r>
            <a:r>
              <a:rPr lang="en-US" b="0" dirty="0">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dict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size=</a:t>
            </a:r>
            <a:r>
              <a:rPr lang="en-US" b="0" dirty="0">
                <a:solidFill>
                  <a:srgbClr val="B5CEA8"/>
                </a:solidFill>
                <a:effectLst/>
                <a:latin typeface="Courier New" panose="02070309020205020404" pitchFamily="49" charset="0"/>
              </a:rPr>
              <a:t>20</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weight=</a:t>
            </a:r>
            <a:r>
              <a:rPr lang="en-US" b="0" dirty="0">
                <a:solidFill>
                  <a:srgbClr val="CE9178"/>
                </a:solidFill>
                <a:effectLst/>
                <a:latin typeface="Courier New" panose="02070309020205020404" pitchFamily="49" charset="0"/>
              </a:rPr>
              <a:t>"bold"</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fig.update_xaxes</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tickangle</a:t>
            </a:r>
            <a:r>
              <a:rPr lang="en-US" b="0" dirty="0">
                <a:solidFill>
                  <a:srgbClr val="D4D4D4"/>
                </a:solidFill>
                <a:effectLst/>
                <a:latin typeface="Courier New" panose="02070309020205020404" pitchFamily="49" charset="0"/>
              </a:rPr>
              <a:t>=</a:t>
            </a:r>
            <a:r>
              <a:rPr lang="en-US" b="0" dirty="0">
                <a:solidFill>
                  <a:srgbClr val="B5CEA8"/>
                </a:solidFill>
                <a:effectLst/>
                <a:latin typeface="Courier New" panose="02070309020205020404" pitchFamily="49" charset="0"/>
              </a:rPr>
              <a:t>-40</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pic>
        <p:nvPicPr>
          <p:cNvPr id="9" name="Picture 8">
            <a:extLst>
              <a:ext uri="{FF2B5EF4-FFF2-40B4-BE49-F238E27FC236}">
                <a16:creationId xmlns:a16="http://schemas.microsoft.com/office/drawing/2014/main" id="{206F1D28-C2A4-EBB8-61B9-B5FD50E3CE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1680" y="1795335"/>
            <a:ext cx="7609840" cy="5000625"/>
          </a:xfrm>
          <a:prstGeom prst="rect">
            <a:avLst/>
          </a:prstGeom>
          <a:ln w="19050">
            <a:solidFill>
              <a:srgbClr val="FF0000"/>
            </a:solidFill>
          </a:ln>
        </p:spPr>
      </p:pic>
    </p:spTree>
    <p:extLst>
      <p:ext uri="{BB962C8B-B14F-4D97-AF65-F5344CB8AC3E}">
        <p14:creationId xmlns:p14="http://schemas.microsoft.com/office/powerpoint/2010/main" val="299245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E6D3AE-67E3-734F-33C9-4876F054F1EE}"/>
              </a:ext>
            </a:extLst>
          </p:cNvPr>
          <p:cNvSpPr txBox="1"/>
          <p:nvPr/>
        </p:nvSpPr>
        <p:spPr>
          <a:xfrm>
            <a:off x="0" y="0"/>
            <a:ext cx="1070864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Year-wise Growth Trend of Netflix Content (Movies vs TV Shows) :- </a:t>
            </a:r>
          </a:p>
        </p:txBody>
      </p:sp>
      <p:cxnSp>
        <p:nvCxnSpPr>
          <p:cNvPr id="4" name="Straight Connector 3">
            <a:extLst>
              <a:ext uri="{FF2B5EF4-FFF2-40B4-BE49-F238E27FC236}">
                <a16:creationId xmlns:a16="http://schemas.microsoft.com/office/drawing/2014/main" id="{1B0D4026-6992-0606-2906-51025F99EE8A}"/>
              </a:ext>
            </a:extLst>
          </p:cNvPr>
          <p:cNvCxnSpPr>
            <a:cxnSpLocks/>
          </p:cNvCxnSpPr>
          <p:nvPr/>
        </p:nvCxnSpPr>
        <p:spPr>
          <a:xfrm>
            <a:off x="-8467" y="497819"/>
            <a:ext cx="1037166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3D76DED-29F3-E12D-114D-0418A7C455BB}"/>
              </a:ext>
            </a:extLst>
          </p:cNvPr>
          <p:cNvCxnSpPr>
            <a:cxnSpLocks/>
          </p:cNvCxnSpPr>
          <p:nvPr/>
        </p:nvCxnSpPr>
        <p:spPr>
          <a:xfrm>
            <a:off x="-8467" y="497819"/>
            <a:ext cx="82042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A629CAF-4E6C-990C-84F6-DD4FD82EA66E}"/>
              </a:ext>
            </a:extLst>
          </p:cNvPr>
          <p:cNvSpPr txBox="1"/>
          <p:nvPr/>
        </p:nvSpPr>
        <p:spPr>
          <a:xfrm>
            <a:off x="-8467" y="995639"/>
            <a:ext cx="5169747" cy="5502788"/>
          </a:xfrm>
          <a:prstGeom prst="rect">
            <a:avLst/>
          </a:prstGeom>
          <a:noFill/>
        </p:spPr>
        <p:txBody>
          <a:bodyPr wrap="square">
            <a:spAutoFit/>
          </a:bodyPr>
          <a:lstStyle/>
          <a:p>
            <a:pPr>
              <a:lnSpc>
                <a:spcPts val="1425"/>
              </a:lnSpc>
            </a:pPr>
            <a:r>
              <a:rPr lang="en-US" b="0" dirty="0">
                <a:solidFill>
                  <a:srgbClr val="C99CC6"/>
                </a:solidFill>
                <a:effectLst/>
                <a:latin typeface="Courier New" panose="02070309020205020404" pitchFamily="49" charset="0"/>
              </a:rPr>
              <a:t>import </a:t>
            </a:r>
            <a:r>
              <a:rPr lang="en-US" dirty="0">
                <a:solidFill>
                  <a:srgbClr val="D4D4D4"/>
                </a:solidFill>
                <a:latin typeface="Courier New" panose="02070309020205020404" pitchFamily="49" charset="0"/>
              </a:rPr>
              <a:t>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endParaRPr lang="en-US" b="0" dirty="0">
              <a:solidFill>
                <a:srgbClr val="C99CC6"/>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matplotlib.pyplot</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date_added</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date_added</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dropna</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Added_Year</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pd.to_datetime</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date_added</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dt.year</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df_type_year</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'country’</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 != </a:t>
            </a:r>
            <a:r>
              <a:rPr lang="en-US" b="0" dirty="0">
                <a:solidFill>
                  <a:srgbClr val="CE9178"/>
                </a:solidFill>
                <a:effectLst/>
                <a:latin typeface="Courier New" panose="02070309020205020404" pitchFamily="49" charset="0"/>
              </a:rPr>
              <a:t>'Not Specified’</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groupby</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Added_Year'</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'type</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.size</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reset_index</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name=</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fig = </a:t>
            </a:r>
            <a:r>
              <a:rPr lang="en-US" b="0" dirty="0" err="1">
                <a:solidFill>
                  <a:srgbClr val="D4D4D4"/>
                </a:solidFill>
                <a:effectLst/>
                <a:latin typeface="Courier New" panose="02070309020205020404" pitchFamily="49" charset="0"/>
              </a:rPr>
              <a:t>px.area</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df_type_year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x=</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Added_Year</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y=</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color=</a:t>
            </a:r>
            <a:r>
              <a:rPr lang="en-US" b="0" dirty="0">
                <a:solidFill>
                  <a:srgbClr val="CE9178"/>
                </a:solidFill>
                <a:effectLst/>
                <a:latin typeface="Courier New" panose="02070309020205020404" pitchFamily="49" charset="0"/>
              </a:rPr>
              <a:t>'type'</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"Movies vs TV Shows Added Year-wise (Growth Trend)"</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p:txBody>
      </p:sp>
      <p:pic>
        <p:nvPicPr>
          <p:cNvPr id="11" name="Picture 10">
            <a:extLst>
              <a:ext uri="{FF2B5EF4-FFF2-40B4-BE49-F238E27FC236}">
                <a16:creationId xmlns:a16="http://schemas.microsoft.com/office/drawing/2014/main" id="{CF62CB94-3186-D658-20E6-805B5F110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3920" y="1391921"/>
            <a:ext cx="7426960" cy="5370512"/>
          </a:xfrm>
          <a:prstGeom prst="rect">
            <a:avLst/>
          </a:prstGeom>
          <a:ln w="19050">
            <a:solidFill>
              <a:srgbClr val="FF0000"/>
            </a:solidFill>
          </a:ln>
        </p:spPr>
      </p:pic>
    </p:spTree>
    <p:extLst>
      <p:ext uri="{BB962C8B-B14F-4D97-AF65-F5344CB8AC3E}">
        <p14:creationId xmlns:p14="http://schemas.microsoft.com/office/powerpoint/2010/main" val="3311725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06687D-AF9D-3C28-FAC3-9605E28CE15F}"/>
              </a:ext>
            </a:extLst>
          </p:cNvPr>
          <p:cNvSpPr txBox="1"/>
          <p:nvPr/>
        </p:nvSpPr>
        <p:spPr>
          <a:xfrm>
            <a:off x="0" y="0"/>
            <a:ext cx="75692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Year-Wise Trend of Netflix Content Releases :- </a:t>
            </a:r>
          </a:p>
        </p:txBody>
      </p:sp>
      <p:cxnSp>
        <p:nvCxnSpPr>
          <p:cNvPr id="4" name="Straight Connector 3">
            <a:extLst>
              <a:ext uri="{FF2B5EF4-FFF2-40B4-BE49-F238E27FC236}">
                <a16:creationId xmlns:a16="http://schemas.microsoft.com/office/drawing/2014/main" id="{8442FAF2-30FA-6197-5C20-AF33B597BE69}"/>
              </a:ext>
            </a:extLst>
          </p:cNvPr>
          <p:cNvCxnSpPr>
            <a:cxnSpLocks/>
          </p:cNvCxnSpPr>
          <p:nvPr/>
        </p:nvCxnSpPr>
        <p:spPr>
          <a:xfrm>
            <a:off x="-8467" y="497819"/>
            <a:ext cx="716110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6572280-D1C3-BE61-AAF0-A70A16E98BE3}"/>
              </a:ext>
            </a:extLst>
          </p:cNvPr>
          <p:cNvSpPr txBox="1"/>
          <p:nvPr/>
        </p:nvSpPr>
        <p:spPr>
          <a:xfrm>
            <a:off x="0" y="995639"/>
            <a:ext cx="4785360" cy="3527889"/>
          </a:xfrm>
          <a:prstGeom prst="rect">
            <a:avLst/>
          </a:prstGeom>
          <a:noFill/>
        </p:spPr>
        <p:txBody>
          <a:bodyPr wrap="square">
            <a:spAutoFit/>
          </a:bodyPr>
          <a:lstStyle/>
          <a:p>
            <a:pPr>
              <a:lnSpc>
                <a:spcPts val="1425"/>
              </a:lnSpc>
            </a:pPr>
            <a:r>
              <a:rPr lang="en-US" dirty="0">
                <a:solidFill>
                  <a:srgbClr val="C99CC6"/>
                </a:solidFill>
                <a:latin typeface="Courier New" panose="02070309020205020404" pitchFamily="49" charset="0"/>
              </a:rPr>
              <a:t>import </a:t>
            </a:r>
            <a:r>
              <a:rPr lang="en-US" dirty="0">
                <a:solidFill>
                  <a:srgbClr val="D4D4D4"/>
                </a:solidFill>
                <a:latin typeface="Courier New" panose="02070309020205020404" pitchFamily="49" charset="0"/>
              </a:rPr>
              <a:t>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endParaRPr lang="en-US" b="0" dirty="0">
              <a:solidFill>
                <a:srgbClr val="C99CC6"/>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matplotlib.pyplot</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df_year</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release_year</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value_counts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sort_index</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reset_index</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df_year.columns</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Year'</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'Count</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fig = </a:t>
            </a:r>
            <a:r>
              <a:rPr lang="en-US" b="0" dirty="0" err="1">
                <a:solidFill>
                  <a:srgbClr val="D4D4D4"/>
                </a:solidFill>
                <a:effectLst/>
                <a:latin typeface="Courier New" panose="02070309020205020404" pitchFamily="49" charset="0"/>
              </a:rPr>
              <a:t>px.line</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data_frame</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df_year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x=</a:t>
            </a:r>
            <a:r>
              <a:rPr lang="en-US" b="0" dirty="0">
                <a:solidFill>
                  <a:srgbClr val="CE9178"/>
                </a:solidFill>
                <a:effectLst/>
                <a:latin typeface="Courier New" panose="02070309020205020404" pitchFamily="49" charset="0"/>
              </a:rPr>
              <a:t>'Year'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y=</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"Netflix Year-Wise Content Trend"</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markers=</a:t>
            </a:r>
            <a:r>
              <a:rPr lang="en-US" b="0" dirty="0">
                <a:solidFill>
                  <a:srgbClr val="569CD6"/>
                </a:solidFill>
                <a:effectLst/>
                <a:latin typeface="Courier New" panose="02070309020205020404" pitchFamily="49" charset="0"/>
              </a:rPr>
              <a:t>True</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fig.update_traces</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marker_size</a:t>
            </a:r>
            <a:r>
              <a:rPr lang="en-US" b="0" dirty="0">
                <a:solidFill>
                  <a:srgbClr val="D4D4D4"/>
                </a:solidFill>
                <a:effectLst/>
                <a:latin typeface="Courier New" panose="02070309020205020404" pitchFamily="49" charset="0"/>
              </a:rPr>
              <a:t>=</a:t>
            </a:r>
            <a:r>
              <a:rPr lang="en-US" b="0" dirty="0">
                <a:solidFill>
                  <a:srgbClr val="B5CEA8"/>
                </a:solidFill>
                <a:effectLst/>
                <a:latin typeface="Courier New" panose="02070309020205020404" pitchFamily="49" charset="0"/>
              </a:rPr>
              <a:t>6</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pic>
        <p:nvPicPr>
          <p:cNvPr id="9" name="Picture 8">
            <a:extLst>
              <a:ext uri="{FF2B5EF4-FFF2-40B4-BE49-F238E27FC236}">
                <a16:creationId xmlns:a16="http://schemas.microsoft.com/office/drawing/2014/main" id="{4354B578-BFD5-EE4E-F405-7752ED70B5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2160" y="1812607"/>
            <a:ext cx="7569200" cy="5000625"/>
          </a:xfrm>
          <a:prstGeom prst="rect">
            <a:avLst/>
          </a:prstGeom>
          <a:ln w="19050">
            <a:solidFill>
              <a:srgbClr val="FF0000"/>
            </a:solidFill>
          </a:ln>
        </p:spPr>
      </p:pic>
    </p:spTree>
    <p:extLst>
      <p:ext uri="{BB962C8B-B14F-4D97-AF65-F5344CB8AC3E}">
        <p14:creationId xmlns:p14="http://schemas.microsoft.com/office/powerpoint/2010/main" val="2124773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3B339A-699D-5BDC-3E1E-6237ECE73E58}"/>
              </a:ext>
            </a:extLst>
          </p:cNvPr>
          <p:cNvSpPr txBox="1"/>
          <p:nvPr/>
        </p:nvSpPr>
        <p:spPr>
          <a:xfrm>
            <a:off x="0" y="-50800"/>
            <a:ext cx="9906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Release Year vs Content Duration — Bubble Trend Analysis :-</a:t>
            </a:r>
          </a:p>
        </p:txBody>
      </p:sp>
      <p:cxnSp>
        <p:nvCxnSpPr>
          <p:cNvPr id="4" name="Straight Connector 3">
            <a:extLst>
              <a:ext uri="{FF2B5EF4-FFF2-40B4-BE49-F238E27FC236}">
                <a16:creationId xmlns:a16="http://schemas.microsoft.com/office/drawing/2014/main" id="{6B11C6F1-5267-A214-65E9-7AC235D68702}"/>
              </a:ext>
            </a:extLst>
          </p:cNvPr>
          <p:cNvCxnSpPr>
            <a:cxnSpLocks/>
          </p:cNvCxnSpPr>
          <p:nvPr/>
        </p:nvCxnSpPr>
        <p:spPr>
          <a:xfrm>
            <a:off x="-8467" y="416539"/>
            <a:ext cx="953854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B97AD67-FEF0-9DE5-B5C5-B6C8D175E659}"/>
              </a:ext>
            </a:extLst>
          </p:cNvPr>
          <p:cNvSpPr txBox="1"/>
          <p:nvPr/>
        </p:nvSpPr>
        <p:spPr>
          <a:xfrm>
            <a:off x="-30480" y="1297745"/>
            <a:ext cx="5323840" cy="5323252"/>
          </a:xfrm>
          <a:prstGeom prst="rect">
            <a:avLst/>
          </a:prstGeom>
          <a:noFill/>
        </p:spPr>
        <p:txBody>
          <a:bodyPr wrap="square">
            <a:spAutoFit/>
          </a:bodyPr>
          <a:lstStyle/>
          <a:p>
            <a:pPr>
              <a:lnSpc>
                <a:spcPts val="1425"/>
              </a:lnSpc>
            </a:pPr>
            <a:r>
              <a:rPr lang="en-US" dirty="0">
                <a:solidFill>
                  <a:srgbClr val="C99CC6"/>
                </a:solidFill>
                <a:latin typeface="Courier New" panose="02070309020205020404" pitchFamily="49" charset="0"/>
              </a:rPr>
              <a:t>import </a:t>
            </a:r>
            <a:r>
              <a:rPr lang="en-US" dirty="0">
                <a:solidFill>
                  <a:srgbClr val="D4D4D4"/>
                </a:solidFill>
                <a:latin typeface="Courier New" panose="02070309020205020404" pitchFamily="49" charset="0"/>
              </a:rPr>
              <a:t>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endParaRPr lang="en-US" b="0" dirty="0">
              <a:solidFill>
                <a:srgbClr val="C99CC6"/>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matplotlib.pyplot</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df_dur</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'duration'</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dropna</a:t>
            </a:r>
            <a:r>
              <a:rPr lang="en-US" b="0" dirty="0">
                <a:solidFill>
                  <a:srgbClr val="DCDCDC"/>
                </a:solidFill>
                <a:effectLst/>
                <a:latin typeface="Courier New" panose="02070309020205020404" pitchFamily="49" charset="0"/>
              </a:rPr>
              <a:t>()</a:t>
            </a: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str</a:t>
            </a:r>
            <a:r>
              <a:rPr lang="en-US" b="0" dirty="0" err="1">
                <a:solidFill>
                  <a:srgbClr val="D4D4D4"/>
                </a:solidFill>
                <a:effectLst/>
                <a:latin typeface="Courier New" panose="02070309020205020404" pitchFamily="49" charset="0"/>
              </a:rPr>
              <a:t>.extract</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'(\d+)'</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astype</a:t>
            </a:r>
            <a:r>
              <a:rPr lang="en-US" b="0" dirty="0">
                <a:solidFill>
                  <a:srgbClr val="DCDCDC"/>
                </a:solidFill>
                <a:effectLst/>
                <a:latin typeface="Courier New" panose="02070309020205020404" pitchFamily="49" charset="0"/>
              </a:rPr>
              <a:t>(</a:t>
            </a:r>
            <a:r>
              <a:rPr lang="en-US" b="0" dirty="0">
                <a:solidFill>
                  <a:srgbClr val="4EC9B0"/>
                </a:solidFill>
                <a:effectLst/>
                <a:latin typeface="Courier New" panose="02070309020205020404" pitchFamily="49" charset="0"/>
              </a:rPr>
              <a:t>float</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Duration_Num</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df_dur</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df_bubble</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df.groupby</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release_year</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p>
          <a:p>
            <a:pPr>
              <a:lnSpc>
                <a:spcPts val="1425"/>
              </a:lnSpc>
              <a:buNone/>
            </a:pP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Duration_Num</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.size</a:t>
            </a:r>
            <a:r>
              <a:rPr lang="en-US" b="0" dirty="0">
                <a:solidFill>
                  <a:srgbClr val="DCDCDC"/>
                </a:solidFill>
                <a:effectLst/>
                <a:latin typeface="Courier New" panose="02070309020205020404" pitchFamily="49" charset="0"/>
              </a:rPr>
              <a:t>()</a:t>
            </a:r>
            <a:endParaRPr lang="en-US" dirty="0">
              <a:solidFill>
                <a:srgbClr val="DCDCDC"/>
              </a:solidFill>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reset_index</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name=</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fig = </a:t>
            </a:r>
            <a:r>
              <a:rPr lang="en-US" b="0" dirty="0" err="1">
                <a:solidFill>
                  <a:srgbClr val="D4D4D4"/>
                </a:solidFill>
                <a:effectLst/>
                <a:latin typeface="Courier New" panose="02070309020205020404" pitchFamily="49" charset="0"/>
              </a:rPr>
              <a:t>px.scatter</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df_bubble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x=</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release_year</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y=</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Duration_Num</a:t>
            </a:r>
            <a:r>
              <a:rPr lang="en-US" dirty="0">
                <a:solidFill>
                  <a:srgbClr val="CE9178"/>
                </a:solidFill>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size=</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title=</a:t>
            </a:r>
            <a:r>
              <a:rPr lang="en-US" b="0" dirty="0">
                <a:solidFill>
                  <a:srgbClr val="CE9178"/>
                </a:solidFill>
                <a:effectLst/>
                <a:latin typeface="Courier New" panose="02070309020205020404" pitchFamily="49" charset="0"/>
              </a:rPr>
              <a:t>"Release Year vs Content Duration Trend (Bubble Chart)"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labels=</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release_year"</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"Release</a:t>
            </a:r>
            <a:r>
              <a:rPr lang="en-US" b="0" dirty="0">
                <a:solidFill>
                  <a:srgbClr val="CE9178"/>
                </a:solidFill>
                <a:effectLst/>
                <a:latin typeface="Courier New" panose="02070309020205020404" pitchFamily="49" charset="0"/>
              </a:rPr>
              <a:t> Year"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Duration_Num"</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"Duration</a:t>
            </a:r>
            <a:r>
              <a:rPr lang="en-US" b="0" dirty="0">
                <a:solidFill>
                  <a:srgbClr val="CE9178"/>
                </a:solidFill>
                <a:effectLst/>
                <a:latin typeface="Courier New" panose="02070309020205020404" pitchFamily="49" charset="0"/>
              </a:rPr>
              <a:t> (Minutes/Seasons)"</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pic>
        <p:nvPicPr>
          <p:cNvPr id="8" name="Picture 7">
            <a:extLst>
              <a:ext uri="{FF2B5EF4-FFF2-40B4-BE49-F238E27FC236}">
                <a16:creationId xmlns:a16="http://schemas.microsoft.com/office/drawing/2014/main" id="{B7A08716-E4A2-1B51-7CB8-909EFBD4C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4560" y="1182687"/>
            <a:ext cx="7437120" cy="5600870"/>
          </a:xfrm>
          <a:prstGeom prst="rect">
            <a:avLst/>
          </a:prstGeom>
          <a:ln w="19050">
            <a:solidFill>
              <a:srgbClr val="FF0000"/>
            </a:solidFill>
          </a:ln>
        </p:spPr>
      </p:pic>
    </p:spTree>
    <p:extLst>
      <p:ext uri="{BB962C8B-B14F-4D97-AF65-F5344CB8AC3E}">
        <p14:creationId xmlns:p14="http://schemas.microsoft.com/office/powerpoint/2010/main" val="3619379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111D5-3376-2BD2-FB88-1E45B35397E1}"/>
              </a:ext>
            </a:extLst>
          </p:cNvPr>
          <p:cNvSpPr txBox="1"/>
          <p:nvPr/>
        </p:nvSpPr>
        <p:spPr>
          <a:xfrm>
            <a:off x="-40640" y="0"/>
            <a:ext cx="9652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Month-Wise Pattern of Netflix Content Addition (Heatmap) :- </a:t>
            </a:r>
          </a:p>
        </p:txBody>
      </p:sp>
      <p:cxnSp>
        <p:nvCxnSpPr>
          <p:cNvPr id="4" name="Straight Connector 3">
            <a:extLst>
              <a:ext uri="{FF2B5EF4-FFF2-40B4-BE49-F238E27FC236}">
                <a16:creationId xmlns:a16="http://schemas.microsoft.com/office/drawing/2014/main" id="{DBF356D7-618D-705D-D971-83D9EC2AF27D}"/>
              </a:ext>
            </a:extLst>
          </p:cNvPr>
          <p:cNvCxnSpPr>
            <a:cxnSpLocks/>
          </p:cNvCxnSpPr>
          <p:nvPr/>
        </p:nvCxnSpPr>
        <p:spPr>
          <a:xfrm>
            <a:off x="-8467" y="497819"/>
            <a:ext cx="953854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8BB2C63-8CE3-9E0E-831F-658333303314}"/>
              </a:ext>
            </a:extLst>
          </p:cNvPr>
          <p:cNvSpPr txBox="1"/>
          <p:nvPr/>
        </p:nvSpPr>
        <p:spPr>
          <a:xfrm>
            <a:off x="-20320" y="1031663"/>
            <a:ext cx="4622800" cy="5861861"/>
          </a:xfrm>
          <a:prstGeom prst="rect">
            <a:avLst/>
          </a:prstGeom>
          <a:noFill/>
        </p:spPr>
        <p:txBody>
          <a:bodyPr wrap="square">
            <a:spAutoFit/>
          </a:bodyPr>
          <a:lstStyle/>
          <a:p>
            <a:pPr>
              <a:lnSpc>
                <a:spcPts val="1425"/>
              </a:lnSpc>
            </a:pPr>
            <a:r>
              <a:rPr lang="en-US" dirty="0">
                <a:solidFill>
                  <a:srgbClr val="C99CC6"/>
                </a:solidFill>
                <a:latin typeface="Courier New" panose="02070309020205020404" pitchFamily="49" charset="0"/>
              </a:rPr>
              <a:t>import </a:t>
            </a:r>
            <a:r>
              <a:rPr lang="en-US" dirty="0">
                <a:solidFill>
                  <a:srgbClr val="D4D4D4"/>
                </a:solidFill>
                <a:latin typeface="Courier New" panose="02070309020205020404" pitchFamily="49" charset="0"/>
              </a:rPr>
              <a:t>pandas </a:t>
            </a:r>
            <a:r>
              <a:rPr lang="en-US" dirty="0">
                <a:solidFill>
                  <a:srgbClr val="C99CC6"/>
                </a:solidFill>
                <a:latin typeface="Courier New" panose="02070309020205020404" pitchFamily="49" charset="0"/>
              </a:rPr>
              <a:t>as</a:t>
            </a:r>
            <a:r>
              <a:rPr lang="en-US" dirty="0">
                <a:solidFill>
                  <a:srgbClr val="D4D4D4"/>
                </a:solidFill>
                <a:latin typeface="Courier New" panose="02070309020205020404" pitchFamily="49" charset="0"/>
              </a:rPr>
              <a:t> pd</a:t>
            </a:r>
            <a:endParaRPr lang="en-US" b="0" dirty="0">
              <a:solidFill>
                <a:srgbClr val="C99CC6"/>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plotly.express</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px</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C99CC6"/>
                </a:solidFill>
                <a:effectLst/>
                <a:latin typeface="Courier New" panose="02070309020205020404" pitchFamily="49" charset="0"/>
              </a:rPr>
              <a:t>import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matplotlib.pyplot</a:t>
            </a:r>
            <a:r>
              <a:rPr lang="en-US" b="0" dirty="0">
                <a:solidFill>
                  <a:srgbClr val="D4D4D4"/>
                </a:solidFill>
                <a:effectLst/>
                <a:latin typeface="Courier New" panose="02070309020205020404" pitchFamily="49" charset="0"/>
              </a:rPr>
              <a:t> </a:t>
            </a:r>
            <a:r>
              <a:rPr lang="en-US" b="0" dirty="0">
                <a:solidFill>
                  <a:srgbClr val="C99CC6"/>
                </a:solidFill>
                <a:effectLst/>
                <a:latin typeface="Courier New" panose="02070309020205020404" pitchFamily="49" charset="0"/>
              </a:rPr>
              <a:t>as</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plt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Added_Year</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pd.to_datetime</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date_added</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dt.year</a:t>
            </a:r>
            <a:endParaRPr lang="en-US" b="0" dirty="0">
              <a:solidFill>
                <a:srgbClr val="D4D4D4"/>
              </a:solidFill>
              <a:effectLst/>
              <a:latin typeface="Courier New" panose="02070309020205020404" pitchFamily="49" charset="0"/>
            </a:endParaRP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Added_Month</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pd.to_datetime</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date_added</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dt.month_name</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df_heat</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df.groupby</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'Added_Year'</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Added_Month</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.size</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reset_index</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name=</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br>
              <a:rPr lang="en-US" b="0" dirty="0">
                <a:solidFill>
                  <a:srgbClr val="D4D4D4"/>
                </a:solidFill>
                <a:effectLst/>
                <a:latin typeface="Courier New" panose="02070309020205020404" pitchFamily="49" charset="0"/>
              </a:rPr>
            </a:b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fig = </a:t>
            </a:r>
          </a:p>
          <a:p>
            <a:pPr>
              <a:lnSpc>
                <a:spcPts val="1425"/>
              </a:lnSpc>
              <a:buNone/>
            </a:pPr>
            <a:endParaRPr lang="en-US" dirty="0">
              <a:solidFill>
                <a:srgbClr val="D4D4D4"/>
              </a:solidFill>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px.density_heatmap</a:t>
            </a:r>
            <a:r>
              <a:rPr lang="en-US" b="0" dirty="0">
                <a:solidFill>
                  <a:srgbClr val="DCDCDC"/>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df_heat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x=</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Added_Month</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y=</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Added_Year</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z=</a:t>
            </a:r>
            <a:r>
              <a:rPr lang="en-US" b="0" dirty="0">
                <a:solidFill>
                  <a:srgbClr val="CE9178"/>
                </a:solidFill>
                <a:effectLst/>
                <a:latin typeface="Courier New" panose="02070309020205020404" pitchFamily="49" charset="0"/>
              </a:rPr>
              <a:t>'Count'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title=</a:t>
            </a:r>
            <a:r>
              <a:rPr lang="en-US" b="0" dirty="0">
                <a:solidFill>
                  <a:srgbClr val="CE9178"/>
                </a:solidFill>
                <a:effectLst/>
                <a:latin typeface="Courier New" panose="02070309020205020404" pitchFamily="49" charset="0"/>
              </a:rPr>
              <a:t>"Month-Wise Netflix Content Addition Pattern"</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a:lnSpc>
                <a:spcPts val="1425"/>
              </a:lnSpc>
              <a:buNone/>
            </a:pPr>
            <a:r>
              <a:rPr lang="en-US" b="0" dirty="0">
                <a:solidFill>
                  <a:srgbClr val="D4D4D4"/>
                </a:solidFill>
                <a:effectLst/>
                <a:latin typeface="Courier New" panose="02070309020205020404" pitchFamily="49" charset="0"/>
              </a:rPr>
              <a:t>  labels=</a:t>
            </a:r>
            <a:r>
              <a:rPr lang="en-US" b="0" dirty="0">
                <a:solidFill>
                  <a:srgbClr val="DCDCDC"/>
                </a:solidFill>
                <a:effectLst/>
                <a:latin typeface="Courier New" panose="02070309020205020404" pitchFamily="49" charset="0"/>
              </a:rPr>
              <a:t>{</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Added_Month"</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"Month</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CE9178"/>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Added_Year"</a:t>
            </a:r>
            <a:r>
              <a:rPr lang="en-US" b="0" dirty="0" err="1">
                <a:solidFill>
                  <a:srgbClr val="DCDCDC"/>
                </a:solidFill>
                <a:effectLst/>
                <a:latin typeface="Courier New" panose="02070309020205020404" pitchFamily="49" charset="0"/>
              </a:rPr>
              <a:t>:</a:t>
            </a:r>
            <a:r>
              <a:rPr lang="en-US" b="0" dirty="0" err="1">
                <a:solidFill>
                  <a:srgbClr val="CE9178"/>
                </a:solidFill>
                <a:effectLst/>
                <a:latin typeface="Courier New" panose="02070309020205020404" pitchFamily="49" charset="0"/>
              </a:rPr>
              <a:t>"Year</a:t>
            </a:r>
            <a:r>
              <a:rPr lang="en-US" b="0" dirty="0">
                <a:solidFill>
                  <a:srgbClr val="CE9178"/>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p>
          <a:p>
            <a:pPr>
              <a:lnSpc>
                <a:spcPts val="1425"/>
              </a:lnSpc>
              <a:buNone/>
            </a:pPr>
            <a:endParaRPr lang="en-US" b="0" dirty="0">
              <a:solidFill>
                <a:srgbClr val="D4D4D4"/>
              </a:solidFill>
              <a:effectLst/>
              <a:latin typeface="Courier New" panose="02070309020205020404" pitchFamily="49" charset="0"/>
            </a:endParaRPr>
          </a:p>
          <a:p>
            <a:pPr>
              <a:lnSpc>
                <a:spcPts val="1425"/>
              </a:lnSpc>
              <a:buNone/>
            </a:pPr>
            <a:r>
              <a:rPr lang="en-US" b="0" dirty="0" err="1">
                <a:solidFill>
                  <a:srgbClr val="D4D4D4"/>
                </a:solidFill>
                <a:effectLst/>
                <a:latin typeface="Courier New" panose="02070309020205020404" pitchFamily="49" charset="0"/>
              </a:rPr>
              <a:t>fig.show</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pic>
        <p:nvPicPr>
          <p:cNvPr id="9" name="Picture 8">
            <a:extLst>
              <a:ext uri="{FF2B5EF4-FFF2-40B4-BE49-F238E27FC236}">
                <a16:creationId xmlns:a16="http://schemas.microsoft.com/office/drawing/2014/main" id="{D7BC2DEF-E36F-9459-9A04-3EF0776BE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1520" y="1822767"/>
            <a:ext cx="7596822" cy="5000625"/>
          </a:xfrm>
          <a:prstGeom prst="rect">
            <a:avLst/>
          </a:prstGeom>
          <a:ln w="19050">
            <a:solidFill>
              <a:srgbClr val="FF0000"/>
            </a:solidFill>
          </a:ln>
        </p:spPr>
      </p:pic>
    </p:spTree>
    <p:extLst>
      <p:ext uri="{BB962C8B-B14F-4D97-AF65-F5344CB8AC3E}">
        <p14:creationId xmlns:p14="http://schemas.microsoft.com/office/powerpoint/2010/main" val="23240104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221</TotalTime>
  <Words>2433</Words>
  <Application>Microsoft Office PowerPoint</Application>
  <PresentationFormat>Widescreen</PresentationFormat>
  <Paragraphs>306</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Courier New</vt:lpstr>
      <vt:lpstr>Tahoma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Jayesh Patel</dc:creator>
  <cp:lastModifiedBy>Jayesh Patel</cp:lastModifiedBy>
  <cp:revision>8</cp:revision>
  <dcterms:created xsi:type="dcterms:W3CDTF">2025-11-29T12:48:17Z</dcterms:created>
  <dcterms:modified xsi:type="dcterms:W3CDTF">2025-12-01T14:57:14Z</dcterms:modified>
</cp:coreProperties>
</file>